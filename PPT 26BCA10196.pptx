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40c0a3f-6c01-5d7a-d26a-1b63c1002aea}">
          <p14:sldIdLst>
            <p14:sldId id="256"/>
            <p14:sldId id="257"/>
          </p14:sldIdLst>
        </p14:section>
        <p14:section name="Findings" id="{089f2226-2a2a-9d2c-2ab6-0d4a4b16b481}">
          <p14:sldIdLst>
            <p14:sldId id="258"/>
            <p14:sldId id="259"/>
            <p14:sldId id="260"/>
          </p14:sldIdLst>
        </p14:section>
        <p14:section name="Actions" id="{6d9be47c-2f78-4d5c-e5d3-0e7ec949ef99}">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236"/>
                </a:solidFill>
                <a:latin typeface="+mn-lt"/>
              </a:defRPr>
            </a:pPr>
            <a:r>
              <a:rPr sz="1400" b="0" i="0" u="none" strike="noStrike">
                <a:solidFill>
                  <a:srgbClr val="1A2236"/>
                </a:solidFill>
                <a:latin typeface="+mn-lt"/>
              </a:rPr>
              <a:t>Overall satisfaction (n = 50)</a:t>
            </a:r>
          </a:p>
        </c:rich>
      </c:tx>
      <c:layout/>
      <c:overlay val="0"/>
    </c:title>
    <c:autoTitleDeleted val="0"/>
    <c:plotArea>
      <c:layout/>
      <c:doughnutChart>
        <c:varyColors val="1"/>
        <c:ser>
          <c:idx val="0"/>
          <c:order val="0"/>
          <c:tx>
            <c:strRef>
              <c:f>Sheet1!$B$1</c:f>
              <c:strCache>
                <c:ptCount val="1"/>
                <c:pt idx="0">
                  <c:v>Customers</c:v>
                </c:pt>
              </c:strCache>
            </c:strRef>
          </c:tx>
          <c:spPr>
            <a:solidFill>
              <a:schemeClr val="accent1"/>
            </a:solidFill>
            <a:ln w="9525" cap="flat">
              <a:solidFill>
                <a:srgbClr val="F9F9F9"/>
              </a:solidFill>
              <a:prstDash val="solid"/>
              <a:round/>
            </a:ln>
            <a:effectLst/>
          </c:spPr>
          <c:dPt>
            <c:idx val="0"/>
            <c:bubble3D val="0"/>
            <c:spPr>
              <a:solidFill>
                <a:srgbClr val="2B5C8A"/>
              </a:solidFill>
              <a:effectLst/>
            </c:spPr>
          </c:dPt>
          <c:dPt>
            <c:idx val="1"/>
            <c:bubble3D val="0"/>
            <c:spPr>
              <a:solidFill>
                <a:srgbClr val="8A94A6"/>
              </a:solidFill>
              <a:effectLst/>
            </c:spPr>
          </c:dPt>
          <c:dPt>
            <c:idx val="2"/>
            <c:bubble3D val="0"/>
            <c:spPr>
              <a:solidFill>
                <a:srgbClr val="C0504D"/>
              </a:solidFill>
              <a:effectLst/>
            </c:spPr>
          </c:dPt>
          <c:dLbls>
            <c:dLbl>
              <c:idx val="0"/>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Satisfied (4-5)</c:v>
                </c:pt>
                <c:pt idx="1">
                  <c:v>Neutral (3)</c:v>
                </c:pt>
                <c:pt idx="2">
                  <c:v>Dissatisfied (1-2)</c:v>
                </c:pt>
              </c:strCache>
            </c:strRef>
          </c:cat>
          <c:val>
            <c:numRef>
              <c:f>Sheet1!$B$2:$B$4</c:f>
              <c:numCache>
                <c:ptCount val="3"/>
                <c:pt idx="0">
                  <c:v>34</c:v>
                </c:pt>
                <c:pt idx="1">
                  <c:v>8</c:v>
                </c:pt>
                <c:pt idx="2">
                  <c:v>8</c:v>
                </c:pt>
              </c:numCache>
            </c:numRef>
          </c:val>
        </c:ser>
        <c:firstSliceAng val="0"/>
        <c:holeSize val="55"/>
      </c:doughnutChart>
      <c:spPr>
        <a:noFill/>
        <a:ln>
          <a:noFill/>
        </a:ln>
        <a:effectLst/>
      </c:spPr>
    </c:plotArea>
    <c:legend>
      <c:legendPos val="b"/>
      <c:overlay val="0"/>
      <c:txPr>
        <a:bodyPr/>
        <a:lstStyle/>
        <a:p>
          <a:pPr>
            <a:defRPr sz="1200">
              <a:solidFill>
                <a:srgbClr val="1A22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236"/>
                </a:solidFill>
                <a:latin typeface="+mn-lt"/>
              </a:defRPr>
            </a:pPr>
            <a:r>
              <a:rPr sz="1400" b="0" i="0" u="none" strike="noStrike">
                <a:solidFill>
                  <a:srgbClr val="1A2236"/>
                </a:solidFill>
                <a:latin typeface="+mn-lt"/>
              </a:rPr>
              <a:t>Average rating by parameter (out of 5)</a:t>
            </a:r>
          </a:p>
        </c:rich>
      </c:tx>
      <c:layout/>
      <c:overlay val="0"/>
    </c:title>
    <c:autoTitleDeleted val="0"/>
    <c:plotArea>
      <c:layout/>
      <c:barChart>
        <c:barDir val="bar"/>
        <c:grouping val="clustered"/>
        <c:varyColors val="0"/>
        <c:ser>
          <c:idx val="0"/>
          <c:order val="0"/>
          <c:tx>
            <c:strRef>
              <c:f>Sheet1!$B$1</c:f>
              <c:strCache>
                <c:ptCount val="1"/>
                <c:pt idx="0">
                  <c:v>Average rating</c:v>
                </c:pt>
              </c:strCache>
            </c:strRef>
          </c:tx>
          <c:spPr>
            <a:solidFill>
              <a:srgbClr val="C0504D"/>
            </a:solidFill>
            <a:effectLst/>
          </c:spPr>
          <c:invertIfNegative val="0"/>
          <c:dLbls>
            <c:numFmt formatCode="0.0" sourceLinked="0"/>
            <c:txPr>
              <a:bodyPr/>
              <a:lstStyle/>
              <a:p>
                <a:pPr>
                  <a:defRPr b="0" i="0" strike="noStrike" sz="1200" u="none">
                    <a:solidFill>
                      <a:srgbClr val="1A2236"/>
                    </a:solidFill>
                    <a:latin typeface="+mn-lt"/>
                  </a:defRPr>
                </a:pPr>
              </a:p>
            </c:txPr>
            <c:showLegendKey val="0"/>
            <c:showVal val="1"/>
            <c:showCatName val="0"/>
            <c:showSerName val="0"/>
            <c:showPercent val="0"/>
            <c:showBubbleSize val="0"/>
            <c:showLeaderLines val="0"/>
          </c:dLbls>
          <c:dPt>
            <c:idx val="0"/>
            <c:invertIfNegative val="0"/>
            <c:bubble3D val="0"/>
            <c:spPr>
              <a:solidFill>
                <a:srgbClr val="C0504D"/>
              </a:solidFill>
              <a:effectLst/>
            </c:spPr>
          </c:dPt>
          <c:dPt>
            <c:idx val="1"/>
            <c:invertIfNegative val="0"/>
            <c:bubble3D val="0"/>
            <c:spPr>
              <a:solidFill>
                <a:srgbClr val="C0504D"/>
              </a:solidFill>
              <a:effectLst/>
            </c:spPr>
          </c:dPt>
          <c:dPt>
            <c:idx val="2"/>
            <c:invertIfNegative val="0"/>
            <c:bubble3D val="0"/>
            <c:spPr>
              <a:solidFill>
                <a:srgbClr val="C0504D"/>
              </a:solidFill>
              <a:effectLst/>
            </c:spPr>
          </c:dPt>
          <c:dPt>
            <c:idx val="3"/>
            <c:invertIfNegative val="0"/>
            <c:bubble3D val="0"/>
            <c:spPr>
              <a:solidFill>
                <a:srgbClr val="C0504D"/>
              </a:solidFill>
              <a:effectLst/>
            </c:spPr>
          </c:dPt>
          <c:dPt>
            <c:idx val="4"/>
            <c:invertIfNegative val="0"/>
            <c:bubble3D val="0"/>
            <c:spPr>
              <a:solidFill>
                <a:srgbClr val="2B5C8A"/>
              </a:solidFill>
              <a:effectLst/>
            </c:spPr>
          </c:dPt>
          <c:dPt>
            <c:idx val="5"/>
            <c:invertIfNegative val="0"/>
            <c:bubble3D val="0"/>
            <c:spPr>
              <a:solidFill>
                <a:srgbClr val="2B5C8A"/>
              </a:solidFill>
              <a:effectLst/>
            </c:spPr>
          </c:dPt>
          <c:dPt>
            <c:idx val="6"/>
            <c:invertIfNegative val="0"/>
            <c:bubble3D val="0"/>
            <c:spPr>
              <a:solidFill>
                <a:srgbClr val="2B5C8A"/>
              </a:solidFill>
              <a:effectLst/>
            </c:spPr>
          </c:dPt>
          <c:cat>
            <c:multiLvlStrRef>
              <c:f>Sheet1!$A$2:$A$8</c:f>
              <c:multiLvlStrCache>
                <c:ptCount val="7"/>
                <c:lvl>
                  <c:pt idx="0">
                    <c:v>Customer Support</c:v>
                  </c:pt>
                  <c:pt idx="1">
                    <c:v>Returns &amp; Refunds</c:v>
                  </c:pt>
                  <c:pt idx="2">
                    <c:v>Delivery Speed</c:v>
                  </c:pt>
                  <c:pt idx="3">
                    <c:v>Packaging</c:v>
                  </c:pt>
                  <c:pt idx="4">
                    <c:v>Pricing &amp; Offers</c:v>
                  </c:pt>
                  <c:pt idx="5">
                    <c:v>Website Ease of Use</c:v>
                  </c:pt>
                  <c:pt idx="6">
                    <c:v>Product Quality</c:v>
                  </c:pt>
                </c:lvl>
              </c:multiLvlStrCache>
            </c:multiLvlStrRef>
          </c:cat>
          <c:val>
            <c:numRef>
              <c:f>Sheet1!$B$2:$B$8</c:f>
              <c:numCache>
                <c:formatCode>General</c:formatCode>
                <c:ptCount val="7"/>
                <c:pt idx="0">
                  <c:v>2.9</c:v>
                </c:pt>
                <c:pt idx="1">
                  <c:v>3</c:v>
                </c:pt>
                <c:pt idx="2">
                  <c:v>3.1</c:v>
                </c:pt>
                <c:pt idx="3">
                  <c:v>3.4</c:v>
                </c:pt>
                <c:pt idx="4">
                  <c:v>3.6</c:v>
                </c:pt>
                <c:pt idx="5">
                  <c:v>4</c:v>
                </c:pt>
                <c:pt idx="6">
                  <c:v>4.2</c:v>
                </c:pt>
              </c:numCache>
            </c:numRef>
          </c:val>
        </c:ser>
        <c:dLbls>
          <c:numFmt formatCode="0.0" sourceLinked="0"/>
          <c:txPr>
            <a:bodyPr/>
            <a:lstStyle/>
            <a:p>
              <a:pPr>
                <a:defRPr b="0" i="0" strike="noStrike" sz="1200" u="none">
                  <a:solidFill>
                    <a:srgbClr val="1A2236"/>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2236"/>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6350" cap="flat">
              <a:solidFill>
                <a:srgbClr val="D9DE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1A2236"/>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236"/>
                </a:solidFill>
                <a:latin typeface="+mn-lt"/>
              </a:defRPr>
            </a:pPr>
            <a:r>
              <a:rPr sz="1400" b="0" i="0" u="none" strike="noStrike">
                <a:solidFill>
                  <a:srgbClr val="1A2236"/>
                </a:solidFill>
                <a:latin typeface="+mn-lt"/>
              </a:rPr>
              <a:t>Customers mentioning each problem (of 50)</a:t>
            </a:r>
          </a:p>
        </c:rich>
      </c:tx>
      <c:layout/>
      <c:overlay val="0"/>
    </c:title>
    <c:autoTitleDeleted val="0"/>
    <c:plotArea>
      <c:layout/>
      <c:barChart>
        <c:barDir val="col"/>
        <c:grouping val="clustered"/>
        <c:varyColors val="0"/>
        <c:ser>
          <c:idx val="0"/>
          <c:order val="0"/>
          <c:tx>
            <c:strRef>
              <c:f>Sheet1!$B$1</c:f>
              <c:strCache>
                <c:ptCount val="1"/>
                <c:pt idx="0">
                  <c:v>Mentions</c:v>
                </c:pt>
              </c:strCache>
            </c:strRef>
          </c:tx>
          <c:spPr>
            <a:solidFill>
              <a:srgbClr val="C0504D"/>
            </a:solidFill>
            <a:effectLst/>
          </c:spPr>
          <c:invertIfNegative val="0"/>
          <c:dLbls>
            <c:numFmt formatCode="#,##0" sourceLinked="0"/>
            <c:txPr>
              <a:bodyPr/>
              <a:lstStyle/>
              <a:p>
                <a:pPr>
                  <a:defRPr b="0" i="0" strike="noStrike" sz="1200" u="none">
                    <a:solidFill>
                      <a:srgbClr val="1A2236"/>
                    </a:solidFill>
                    <a:latin typeface="+mn-lt"/>
                  </a:defRPr>
                </a:pPr>
              </a:p>
            </c:txPr>
            <c:showLegendKey val="0"/>
            <c:showVal val="1"/>
            <c:showCatName val="0"/>
            <c:showSerName val="0"/>
            <c:showPercent val="0"/>
            <c:showBubbleSize val="0"/>
            <c:showLeaderLines val="0"/>
          </c:dLbls>
          <c:cat>
            <c:multiLvlStrRef>
              <c:f>Sheet1!$A$2:$A$7</c:f>
              <c:multiLvlStrCache>
                <c:ptCount val="6"/>
                <c:lvl>
                  <c:pt idx="0">
                    <c:v>Late Delivery</c:v>
                  </c:pt>
                  <c:pt idx="1">
                    <c:v>Slow Support</c:v>
                  </c:pt>
                  <c:pt idx="2">
                    <c:v>Damaged Packaging</c:v>
                  </c:pt>
                  <c:pt idx="3">
                    <c:v>Difficult Returns</c:v>
                  </c:pt>
                  <c:pt idx="4">
                    <c:v>Hidden Charges</c:v>
                  </c:pt>
                  <c:pt idx="5">
                    <c:v>Wrong/Missing Item</c:v>
                  </c:pt>
                </c:lvl>
              </c:multiLvlStrCache>
            </c:multiLvlStrRef>
          </c:cat>
          <c:val>
            <c:numRef>
              <c:f>Sheet1!$B$2:$B$7</c:f>
              <c:numCache>
                <c:formatCode>General</c:formatCode>
                <c:ptCount val="6"/>
                <c:pt idx="0">
                  <c:v>34</c:v>
                </c:pt>
                <c:pt idx="1">
                  <c:v>27</c:v>
                </c:pt>
                <c:pt idx="2">
                  <c:v>21</c:v>
                </c:pt>
                <c:pt idx="3">
                  <c:v>18</c:v>
                </c:pt>
                <c:pt idx="4">
                  <c:v>11</c:v>
                </c:pt>
                <c:pt idx="5">
                  <c:v>8</c:v>
                </c:pt>
              </c:numCache>
            </c:numRef>
          </c:val>
        </c:ser>
        <c:dLbls>
          <c:numFmt formatCode="#,##0" sourceLinked="0"/>
          <c:txPr>
            <a:bodyPr/>
            <a:lstStyle/>
            <a:p>
              <a:pPr>
                <a:defRPr b="0" i="0" strike="noStrike" sz="1200" u="none">
                  <a:solidFill>
                    <a:srgbClr val="1A2236"/>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2236"/>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D9DE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A223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customer satisfaction study for an online retail business, using survey data analysed in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topic and the four objectives. Mention that the data was collected with Google Forms and analysed in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of 50 respondents were satisfied, 8 neutral and 8 dissatisfied. Chart generated from the Excel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rating per parameter, calculated in Excel with the AVERAGE formula. Red bars mark parameters below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 delivery was mentioned by 34 of 50 respondents, slow support by 27. Flipkart's public grievance data shows the same types of problems. Counts depend on order volume, so compare problem types, not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Priorities follow the weakest ratings and most frequent complaints: support, delivery and returns come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three takeaways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3A5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1097280"/>
            <a:ext cx="5120640" cy="1737360"/>
          </a:xfrm>
          <a:prstGeom prst="rect">
            <a:avLst/>
          </a:prstGeom>
          <a:noFill/>
          <a:ln/>
        </p:spPr>
        <p:txBody>
          <a:bodyPr wrap="square" lIns="0" tIns="0" rIns="0" bIns="0" rtlCol="0" anchor="t"/>
          <a:lstStyle/>
          <a:p>
            <a:pPr indent="0" marL="0">
              <a:buNone/>
            </a:pPr>
            <a:r>
              <a:rPr lang="en-US" sz="3600" b="1" dirty="0">
                <a:solidFill>
                  <a:schemeClr val="bg1"/>
                </a:solidFill>
              </a:rPr>
              <a:t>Customer Satisfaction Report for E-commerce Business</a:t>
            </a:r>
            <a:endParaRPr lang="en-US" sz="3600" dirty="0"/>
          </a:p>
        </p:txBody>
      </p:sp>
      <p:sp>
        <p:nvSpPr>
          <p:cNvPr id="3" name="Text 1"/>
          <p:cNvSpPr/>
          <p:nvPr/>
        </p:nvSpPr>
        <p:spPr>
          <a:xfrm>
            <a:off x="548640" y="2971800"/>
            <a:ext cx="4937760" cy="731520"/>
          </a:xfrm>
          <a:prstGeom prst="rect">
            <a:avLst/>
          </a:prstGeom>
          <a:noFill/>
          <a:ln/>
        </p:spPr>
        <p:txBody>
          <a:bodyPr wrap="square" lIns="0" tIns="0" rIns="0" bIns="0" rtlCol="0" anchor="t"/>
          <a:lstStyle/>
          <a:p>
            <a:pPr indent="0" marL="0">
              <a:buNone/>
            </a:pPr>
            <a:r>
              <a:rPr lang="en-US" sz="1600" dirty="0">
                <a:solidFill>
                  <a:schemeClr val="bg2"/>
                </a:solidFill>
              </a:rPr>
              <a:t>Survey findings, key takeaways and proposed changes</a:t>
            </a:r>
            <a:endParaRPr lang="en-US" sz="1600" dirty="0"/>
          </a:p>
        </p:txBody>
      </p:sp>
      <p:sp>
        <p:nvSpPr>
          <p:cNvPr id="4" name="Authors"/>
          <p:cNvSpPr txBox="1"/>
          <p:nvPr/>
        </p:nvSpPr>
        <p:spPr>
          <a:xfrm>
            <a:off x="548640" y="4023360"/>
            <a:ext cx="5486400" cy="640080"/>
          </a:xfrm>
          <a:prstGeom prst="rect">
            <a:avLst/>
          </a:prstGeom>
          <a:noFill/>
          <a:ln/>
        </p:spPr>
        <p:txBody>
          <a:bodyPr wrap="square" lIns="0" tIns="0" rIns="0" bIns="0" rtlCol="0" anchor="ctr"/>
          <a:lstStyle/>
          <a:p>
            <a:pPr indent="0" marL="0">
              <a:buNone/>
            </a:pPr>
            <a:r>
              <a:rPr lang="en-US" sz="1400" dirty="0">
                <a:solidFill>
                  <a:schemeClr val="bg2"/>
                </a:solidFill>
              </a:rPr>
              <a:t>Khushi Naskar (26BCA10196)  |  Pranjali Choudhary (26BCA10187)</a:t>
            </a:r>
            <a:endParaRPr lang="en-US" sz="1400" dirty="0"/>
          </a:p>
          <a:p>
            <a:pPr indent="0" marL="0">
              <a:buNone/>
            </a:pPr>
            <a:r>
              <a:rPr lang="en-US" sz="1400" dirty="0">
                <a:solidFill>
                  <a:schemeClr val="bg2"/>
                </a:solidFill>
              </a:rPr>
              <a:t>Section 26BCA4A  |  Office Automation Lab</a:t>
            </a:r>
            <a:endParaRPr lang="en-US" sz="1400" dirty="0"/>
          </a:p>
        </p:txBody>
      </p:sp>
      <p:sp>
        <p:nvSpPr>
          <p:cNvPr id="5" name="Circle"/>
          <p:cNvSpPr/>
          <p:nvPr/>
        </p:nvSpPr>
        <p:spPr>
          <a:xfrm>
            <a:off x="6126480" y="1005840"/>
            <a:ext cx="2560320" cy="2560320"/>
          </a:xfrm>
          <a:prstGeom prst="ellipse">
            <a:avLst/>
          </a:prstGeom>
          <a:solidFill>
            <a:schemeClr val="accent1"/>
          </a:solidFill>
          <a:ln w="12700">
            <a:solidFill>
              <a:schemeClr val="accent1"/>
            </a:solidFill>
            <a:prstDash val="solid"/>
          </a:ln>
        </p:spPr>
      </p:sp>
      <p:pic>
        <p:nvPicPr>
          <p:cNvPr id="6" name="Cart icon" descr="Shopping cart">    </p:cNvPr>
          <p:cNvPicPr>
            <a:picLocks noChangeAspect="1"/>
          </p:cNvPicPr>
          <p:nvPr/>
        </p:nvPicPr>
        <p:blipFill>
          <a:blip r:embed="rId1"/>
          <a:stretch>
            <a:fillRect/>
          </a:stretch>
        </p:blipFill>
        <p:spPr>
          <a:xfrm>
            <a:off x="6858000" y="1737360"/>
            <a:ext cx="1097280" cy="1097280"/>
          </a:xfrm>
          <a:prstGeom prst="rect">
            <a:avLst/>
          </a:prstGeom>
        </p:spPr>
      </p:pic>
      <p:pic>
        <p:nvPicPr>
          <p:cNvPr id="7" name="Star 1" descr="Star">    </p:cNvPr>
          <p:cNvPicPr>
            <a:picLocks noChangeAspect="1"/>
          </p:cNvPicPr>
          <p:nvPr/>
        </p:nvPicPr>
        <p:blipFill>
          <a:blip r:embed="rId2"/>
          <a:stretch>
            <a:fillRect/>
          </a:stretch>
        </p:blipFill>
        <p:spPr>
          <a:xfrm>
            <a:off x="6263640" y="3840480"/>
            <a:ext cx="310896" cy="310896"/>
          </a:xfrm>
          <a:prstGeom prst="rect">
            <a:avLst/>
          </a:prstGeom>
        </p:spPr>
      </p:pic>
      <p:pic>
        <p:nvPicPr>
          <p:cNvPr id="8" name="Star 2" descr="Star">    </p:cNvPr>
          <p:cNvPicPr>
            <a:picLocks noChangeAspect="1"/>
          </p:cNvPicPr>
          <p:nvPr/>
        </p:nvPicPr>
        <p:blipFill>
          <a:blip r:embed="rId3"/>
          <a:stretch>
            <a:fillRect/>
          </a:stretch>
        </p:blipFill>
        <p:spPr>
          <a:xfrm>
            <a:off x="6720840" y="3840480"/>
            <a:ext cx="310896" cy="310896"/>
          </a:xfrm>
          <a:prstGeom prst="rect">
            <a:avLst/>
          </a:prstGeom>
        </p:spPr>
      </p:pic>
      <p:pic>
        <p:nvPicPr>
          <p:cNvPr id="9" name="Star 3" descr="Star">    </p:cNvPr>
          <p:cNvPicPr>
            <a:picLocks noChangeAspect="1"/>
          </p:cNvPicPr>
          <p:nvPr/>
        </p:nvPicPr>
        <p:blipFill>
          <a:blip r:embed="rId4"/>
          <a:stretch>
            <a:fillRect/>
          </a:stretch>
        </p:blipFill>
        <p:spPr>
          <a:xfrm>
            <a:off x="7178040" y="3840480"/>
            <a:ext cx="310896" cy="310896"/>
          </a:xfrm>
          <a:prstGeom prst="rect">
            <a:avLst/>
          </a:prstGeom>
        </p:spPr>
      </p:pic>
      <p:pic>
        <p:nvPicPr>
          <p:cNvPr id="10" name="Star 4" descr="Star">    </p:cNvPr>
          <p:cNvPicPr>
            <a:picLocks noChangeAspect="1"/>
          </p:cNvPicPr>
          <p:nvPr/>
        </p:nvPicPr>
        <p:blipFill>
          <a:blip r:embed="rId5"/>
          <a:stretch>
            <a:fillRect/>
          </a:stretch>
        </p:blipFill>
        <p:spPr>
          <a:xfrm>
            <a:off x="7635240" y="3840480"/>
            <a:ext cx="310896" cy="310896"/>
          </a:xfrm>
          <a:prstGeom prst="rect">
            <a:avLst/>
          </a:prstGeom>
        </p:spPr>
      </p:pic>
      <p:pic>
        <p:nvPicPr>
          <p:cNvPr id="11" name="Star 5" descr="Star">    </p:cNvPr>
          <p:cNvPicPr>
            <a:picLocks noChangeAspect="1"/>
          </p:cNvPicPr>
          <p:nvPr/>
        </p:nvPicPr>
        <p:blipFill>
          <a:blip r:embed="rId6"/>
          <a:stretch>
            <a:fillRect/>
          </a:stretch>
        </p:blipFill>
        <p:spPr>
          <a:xfrm>
            <a:off x="8092440" y="3840480"/>
            <a:ext cx="310896" cy="3108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chemeClr val="tx2"/>
                </a:solidFill>
              </a:rPr>
              <a:t>Why customer satisfaction matters</a:t>
            </a:r>
            <a:endParaRPr lang="en-US" sz="2800" dirty="0"/>
          </a:p>
        </p:txBody>
      </p:sp>
      <p:sp>
        <p:nvSpPr>
          <p:cNvPr id="3" name="Intro"/>
          <p:cNvSpPr txBox="1"/>
          <p:nvPr/>
        </p:nvSpPr>
        <p:spPr>
          <a:xfrm>
            <a:off x="457200" y="1188720"/>
            <a:ext cx="3840480" cy="1737360"/>
          </a:xfrm>
          <a:prstGeom prst="rect">
            <a:avLst/>
          </a:prstGeom>
          <a:noFill/>
          <a:ln/>
        </p:spPr>
        <p:txBody>
          <a:bodyPr wrap="square" lIns="0" tIns="0" rIns="0" bIns="0" rtlCol="0" anchor="t"/>
          <a:lstStyle/>
          <a:p>
            <a:pPr indent="0" marL="0">
              <a:buNone/>
            </a:pPr>
            <a:r>
              <a:rPr lang="en-US" sz="1500" dirty="0">
                <a:solidFill>
                  <a:schemeClr val="tx1"/>
                </a:solidFill>
              </a:rPr>
              <a:t>Happy customers return and recommend the store; unhappy ones leave quietly. We surveyed 50 online shoppers on 7 parts of the shopping experience, analysed the results in Excel and used Flipkart’s public complaint data as a benchmark.</a:t>
            </a:r>
            <a:endParaRPr lang="en-US" sz="1500" dirty="0"/>
          </a:p>
        </p:txBody>
      </p:sp>
      <p:sp>
        <p:nvSpPr>
          <p:cNvPr id="4" name="Stat card 1"/>
          <p:cNvSpPr/>
          <p:nvPr/>
        </p:nvSpPr>
        <p:spPr>
          <a:xfrm>
            <a:off x="457200" y="3200400"/>
            <a:ext cx="1188720" cy="1280160"/>
          </a:xfrm>
          <a:prstGeom prst="roundRect">
            <a:avLst>
              <a:gd name="adj" fmla="val 7692"/>
            </a:avLst>
          </a:prstGeom>
          <a:solidFill>
            <a:schemeClr val="bg2"/>
          </a:solidFill>
          <a:ln w="12700">
            <a:solidFill>
              <a:schemeClr val="bg2"/>
            </a:solidFill>
            <a:prstDash val="solid"/>
          </a:ln>
        </p:spPr>
      </p:sp>
      <p:sp>
        <p:nvSpPr>
          <p:cNvPr id="5" name="Stat value 1"/>
          <p:cNvSpPr txBox="1"/>
          <p:nvPr/>
        </p:nvSpPr>
        <p:spPr>
          <a:xfrm>
            <a:off x="457200" y="3273552"/>
            <a:ext cx="1188720" cy="640080"/>
          </a:xfrm>
          <a:prstGeom prst="rect">
            <a:avLst/>
          </a:prstGeom>
          <a:noFill/>
          <a:ln/>
        </p:spPr>
        <p:txBody>
          <a:bodyPr wrap="square" lIns="0" tIns="0" rIns="0" bIns="0" rtlCol="0" anchor="ctr"/>
          <a:lstStyle/>
          <a:p>
            <a:pPr algn="ctr" indent="0" marL="0">
              <a:buNone/>
            </a:pPr>
            <a:r>
              <a:rPr lang="en-US" sz="3000" b="1" dirty="0">
                <a:solidFill>
                  <a:schemeClr val="tx2"/>
                </a:solidFill>
              </a:rPr>
              <a:t>50</a:t>
            </a:r>
            <a:endParaRPr lang="en-US" sz="3000" dirty="0"/>
          </a:p>
        </p:txBody>
      </p:sp>
      <p:sp>
        <p:nvSpPr>
          <p:cNvPr id="6" name="Stat label 1"/>
          <p:cNvSpPr txBox="1"/>
          <p:nvPr/>
        </p:nvSpPr>
        <p:spPr>
          <a:xfrm>
            <a:off x="502920" y="3931920"/>
            <a:ext cx="1097280" cy="457200"/>
          </a:xfrm>
          <a:prstGeom prst="rect">
            <a:avLst/>
          </a:prstGeom>
          <a:noFill/>
          <a:ln/>
        </p:spPr>
        <p:txBody>
          <a:bodyPr wrap="square" lIns="0" tIns="0" rIns="0" bIns="0" rtlCol="0" anchor="ctr"/>
          <a:lstStyle/>
          <a:p>
            <a:pPr algn="ctr" indent="0" marL="0">
              <a:buNone/>
            </a:pPr>
            <a:r>
              <a:rPr lang="en-US" sz="1200" dirty="0">
                <a:solidFill>
                  <a:schemeClr val="tx1"/>
                </a:solidFill>
              </a:rPr>
              <a:t>respondents</a:t>
            </a:r>
            <a:endParaRPr lang="en-US" sz="1200" dirty="0"/>
          </a:p>
        </p:txBody>
      </p:sp>
      <p:sp>
        <p:nvSpPr>
          <p:cNvPr id="7" name="Stat card 2"/>
          <p:cNvSpPr/>
          <p:nvPr/>
        </p:nvSpPr>
        <p:spPr>
          <a:xfrm>
            <a:off x="1783080" y="3200400"/>
            <a:ext cx="1188720" cy="1280160"/>
          </a:xfrm>
          <a:prstGeom prst="roundRect">
            <a:avLst>
              <a:gd name="adj" fmla="val 7692"/>
            </a:avLst>
          </a:prstGeom>
          <a:solidFill>
            <a:schemeClr val="bg2"/>
          </a:solidFill>
          <a:ln w="12700">
            <a:solidFill>
              <a:schemeClr val="bg2"/>
            </a:solidFill>
            <a:prstDash val="solid"/>
          </a:ln>
        </p:spPr>
      </p:sp>
      <p:sp>
        <p:nvSpPr>
          <p:cNvPr id="8" name="Stat value 2"/>
          <p:cNvSpPr txBox="1"/>
          <p:nvPr/>
        </p:nvSpPr>
        <p:spPr>
          <a:xfrm>
            <a:off x="1783080" y="3273552"/>
            <a:ext cx="1188720" cy="640080"/>
          </a:xfrm>
          <a:prstGeom prst="rect">
            <a:avLst/>
          </a:prstGeom>
          <a:noFill/>
          <a:ln/>
        </p:spPr>
        <p:txBody>
          <a:bodyPr wrap="square" lIns="0" tIns="0" rIns="0" bIns="0" rtlCol="0" anchor="ctr"/>
          <a:lstStyle/>
          <a:p>
            <a:pPr algn="ctr" indent="0" marL="0">
              <a:buNone/>
            </a:pPr>
            <a:r>
              <a:rPr lang="en-US" sz="3000" b="1" dirty="0">
                <a:solidFill>
                  <a:schemeClr val="tx2"/>
                </a:solidFill>
              </a:rPr>
              <a:t>7</a:t>
            </a:r>
            <a:endParaRPr lang="en-US" sz="3000" dirty="0"/>
          </a:p>
        </p:txBody>
      </p:sp>
      <p:sp>
        <p:nvSpPr>
          <p:cNvPr id="9" name="Stat label 2"/>
          <p:cNvSpPr txBox="1"/>
          <p:nvPr/>
        </p:nvSpPr>
        <p:spPr>
          <a:xfrm>
            <a:off x="1828800" y="3931920"/>
            <a:ext cx="1097280" cy="457200"/>
          </a:xfrm>
          <a:prstGeom prst="rect">
            <a:avLst/>
          </a:prstGeom>
          <a:noFill/>
          <a:ln/>
        </p:spPr>
        <p:txBody>
          <a:bodyPr wrap="square" lIns="0" tIns="0" rIns="0" bIns="0" rtlCol="0" anchor="ctr"/>
          <a:lstStyle/>
          <a:p>
            <a:pPr algn="ctr" indent="0" marL="0">
              <a:buNone/>
            </a:pPr>
            <a:r>
              <a:rPr lang="en-US" sz="1200" dirty="0">
                <a:solidFill>
                  <a:schemeClr val="tx1"/>
                </a:solidFill>
              </a:rPr>
              <a:t>parameters rated</a:t>
            </a:r>
            <a:endParaRPr lang="en-US" sz="1200" dirty="0"/>
          </a:p>
        </p:txBody>
      </p:sp>
      <p:sp>
        <p:nvSpPr>
          <p:cNvPr id="10" name="Stat card 3"/>
          <p:cNvSpPr/>
          <p:nvPr/>
        </p:nvSpPr>
        <p:spPr>
          <a:xfrm>
            <a:off x="3108960" y="3200400"/>
            <a:ext cx="1188720" cy="1280160"/>
          </a:xfrm>
          <a:prstGeom prst="roundRect">
            <a:avLst>
              <a:gd name="adj" fmla="val 7692"/>
            </a:avLst>
          </a:prstGeom>
          <a:solidFill>
            <a:schemeClr val="bg2"/>
          </a:solidFill>
          <a:ln w="12700">
            <a:solidFill>
              <a:schemeClr val="bg2"/>
            </a:solidFill>
            <a:prstDash val="solid"/>
          </a:ln>
        </p:spPr>
      </p:sp>
      <p:sp>
        <p:nvSpPr>
          <p:cNvPr id="11" name="Stat value 3"/>
          <p:cNvSpPr txBox="1"/>
          <p:nvPr/>
        </p:nvSpPr>
        <p:spPr>
          <a:xfrm>
            <a:off x="3108960" y="3273552"/>
            <a:ext cx="1188720" cy="640080"/>
          </a:xfrm>
          <a:prstGeom prst="rect">
            <a:avLst/>
          </a:prstGeom>
          <a:noFill/>
          <a:ln/>
        </p:spPr>
        <p:txBody>
          <a:bodyPr wrap="square" lIns="0" tIns="0" rIns="0" bIns="0" rtlCol="0" anchor="ctr"/>
          <a:lstStyle/>
          <a:p>
            <a:pPr algn="ctr" indent="0" marL="0">
              <a:buNone/>
            </a:pPr>
            <a:r>
              <a:rPr lang="en-US" sz="3000" b="1" dirty="0">
                <a:solidFill>
                  <a:schemeClr val="tx2"/>
                </a:solidFill>
              </a:rPr>
              <a:t>1–5</a:t>
            </a:r>
            <a:endParaRPr lang="en-US" sz="3000" dirty="0"/>
          </a:p>
        </p:txBody>
      </p:sp>
      <p:sp>
        <p:nvSpPr>
          <p:cNvPr id="12" name="Stat label 3"/>
          <p:cNvSpPr txBox="1"/>
          <p:nvPr/>
        </p:nvSpPr>
        <p:spPr>
          <a:xfrm>
            <a:off x="3154680" y="3931920"/>
            <a:ext cx="1097280" cy="457200"/>
          </a:xfrm>
          <a:prstGeom prst="rect">
            <a:avLst/>
          </a:prstGeom>
          <a:noFill/>
          <a:ln/>
        </p:spPr>
        <p:txBody>
          <a:bodyPr wrap="square" lIns="0" tIns="0" rIns="0" bIns="0" rtlCol="0" anchor="ctr"/>
          <a:lstStyle/>
          <a:p>
            <a:pPr algn="ctr" indent="0" marL="0">
              <a:buNone/>
            </a:pPr>
            <a:r>
              <a:rPr lang="en-US" sz="1200" dirty="0">
                <a:solidFill>
                  <a:schemeClr val="tx1"/>
                </a:solidFill>
              </a:rPr>
              <a:t>rating scale</a:t>
            </a:r>
            <a:endParaRPr lang="en-US" sz="1200" dirty="0"/>
          </a:p>
        </p:txBody>
      </p:sp>
      <p:sp>
        <p:nvSpPr>
          <p:cNvPr id="13" name="Icon circle 1"/>
          <p:cNvSpPr/>
          <p:nvPr/>
        </p:nvSpPr>
        <p:spPr>
          <a:xfrm>
            <a:off x="4754880" y="1188720"/>
            <a:ext cx="640080" cy="640080"/>
          </a:xfrm>
          <a:prstGeom prst="ellipse">
            <a:avLst/>
          </a:prstGeom>
          <a:solidFill>
            <a:schemeClr val="accent1"/>
          </a:solidFill>
          <a:ln w="12700">
            <a:solidFill>
              <a:schemeClr val="accent1"/>
            </a:solidFill>
            <a:prstDash val="solid"/>
          </a:ln>
        </p:spPr>
      </p:sp>
      <p:pic>
        <p:nvPicPr>
          <p:cNvPr id="14" name="Icon 1" descr="Measure satisfaction">    </p:cNvPr>
          <p:cNvPicPr>
            <a:picLocks noChangeAspect="1"/>
          </p:cNvPicPr>
          <p:nvPr/>
        </p:nvPicPr>
        <p:blipFill>
          <a:blip r:embed="rId1"/>
          <a:stretch>
            <a:fillRect/>
          </a:stretch>
        </p:blipFill>
        <p:spPr>
          <a:xfrm>
            <a:off x="4910328" y="1344168"/>
            <a:ext cx="329184" cy="329184"/>
          </a:xfrm>
          <a:prstGeom prst="rect">
            <a:avLst/>
          </a:prstGeom>
        </p:spPr>
      </p:pic>
      <p:sp>
        <p:nvSpPr>
          <p:cNvPr id="15" name="Objective 1"/>
          <p:cNvSpPr txBox="1"/>
          <p:nvPr/>
        </p:nvSpPr>
        <p:spPr>
          <a:xfrm>
            <a:off x="5577840" y="1188720"/>
            <a:ext cx="3108960" cy="731520"/>
          </a:xfrm>
          <a:prstGeom prst="rect">
            <a:avLst/>
          </a:prstGeom>
          <a:noFill/>
          <a:ln/>
        </p:spPr>
        <p:txBody>
          <a:bodyPr wrap="square" lIns="0" tIns="0" rIns="0" bIns="0" rtlCol="0" anchor="ctr"/>
          <a:lstStyle/>
          <a:p>
            <a:pPr indent="0" marL="0">
              <a:buNone/>
            </a:pPr>
            <a:r>
              <a:rPr lang="en-US" sz="1600" b="1" dirty="0">
                <a:solidFill>
                  <a:srgbClr val="1F3A5F"/>
                </a:solidFill>
              </a:rPr>
              <a:t>Measure satisfaction</a:t>
            </a:r>
            <a:endParaRPr lang="en-US" sz="1600" dirty="0"/>
          </a:p>
          <a:p>
            <a:pPr indent="0" marL="0">
              <a:buNone/>
            </a:pPr>
            <a:r>
              <a:rPr lang="en-US" sz="1400" dirty="0">
                <a:solidFill>
                  <a:srgbClr val="1A2236"/>
                </a:solidFill>
              </a:rPr>
              <a:t>Overall score and ratings for each part of the experience</a:t>
            </a:r>
            <a:endParaRPr lang="en-US" sz="1600" dirty="0"/>
          </a:p>
        </p:txBody>
      </p:sp>
      <p:sp>
        <p:nvSpPr>
          <p:cNvPr id="16" name="Icon circle 2"/>
          <p:cNvSpPr/>
          <p:nvPr/>
        </p:nvSpPr>
        <p:spPr>
          <a:xfrm>
            <a:off x="4754880" y="2057400"/>
            <a:ext cx="640080" cy="640080"/>
          </a:xfrm>
          <a:prstGeom prst="ellipse">
            <a:avLst/>
          </a:prstGeom>
          <a:solidFill>
            <a:schemeClr val="accent1"/>
          </a:solidFill>
          <a:ln w="12700">
            <a:solidFill>
              <a:schemeClr val="accent1"/>
            </a:solidFill>
            <a:prstDash val="solid"/>
          </a:ln>
        </p:spPr>
      </p:sp>
      <p:pic>
        <p:nvPicPr>
          <p:cNvPr id="17" name="Icon 2" descr="Find pain points">    </p:cNvPr>
          <p:cNvPicPr>
            <a:picLocks noChangeAspect="1"/>
          </p:cNvPicPr>
          <p:nvPr/>
        </p:nvPicPr>
        <p:blipFill>
          <a:blip r:embed="rId2"/>
          <a:stretch>
            <a:fillRect/>
          </a:stretch>
        </p:blipFill>
        <p:spPr>
          <a:xfrm>
            <a:off x="4910328" y="2212848"/>
            <a:ext cx="329184" cy="329184"/>
          </a:xfrm>
          <a:prstGeom prst="rect">
            <a:avLst/>
          </a:prstGeom>
        </p:spPr>
      </p:pic>
      <p:sp>
        <p:nvSpPr>
          <p:cNvPr id="18" name="Objective 2"/>
          <p:cNvSpPr txBox="1"/>
          <p:nvPr/>
        </p:nvSpPr>
        <p:spPr>
          <a:xfrm>
            <a:off x="5577840" y="2057400"/>
            <a:ext cx="3108960" cy="731520"/>
          </a:xfrm>
          <a:prstGeom prst="rect">
            <a:avLst/>
          </a:prstGeom>
          <a:noFill/>
          <a:ln/>
        </p:spPr>
        <p:txBody>
          <a:bodyPr wrap="square" lIns="0" tIns="0" rIns="0" bIns="0" rtlCol="0" anchor="ctr"/>
          <a:lstStyle/>
          <a:p>
            <a:pPr indent="0" marL="0">
              <a:buNone/>
            </a:pPr>
            <a:r>
              <a:rPr lang="en-US" sz="1600" b="1" dirty="0">
                <a:solidFill>
                  <a:srgbClr val="1F3A5F"/>
                </a:solidFill>
              </a:rPr>
              <a:t>Find pain points</a:t>
            </a:r>
            <a:endParaRPr lang="en-US" sz="1600" dirty="0"/>
          </a:p>
          <a:p>
            <a:pPr indent="0" marL="0">
              <a:buNone/>
            </a:pPr>
            <a:r>
              <a:rPr lang="en-US" sz="1400" dirty="0">
                <a:solidFill>
                  <a:srgbClr val="1A2236"/>
                </a:solidFill>
              </a:rPr>
              <a:t>The problems customers mention most often</a:t>
            </a:r>
            <a:endParaRPr lang="en-US" sz="1600" dirty="0"/>
          </a:p>
        </p:txBody>
      </p:sp>
      <p:sp>
        <p:nvSpPr>
          <p:cNvPr id="19" name="Icon circle 3"/>
          <p:cNvSpPr/>
          <p:nvPr/>
        </p:nvSpPr>
        <p:spPr>
          <a:xfrm>
            <a:off x="4754880" y="2926080"/>
            <a:ext cx="640080" cy="640080"/>
          </a:xfrm>
          <a:prstGeom prst="ellipse">
            <a:avLst/>
          </a:prstGeom>
          <a:solidFill>
            <a:schemeClr val="accent1"/>
          </a:solidFill>
          <a:ln w="12700">
            <a:solidFill>
              <a:schemeClr val="accent1"/>
            </a:solidFill>
            <a:prstDash val="solid"/>
          </a:ln>
        </p:spPr>
      </p:sp>
      <p:pic>
        <p:nvPicPr>
          <p:cNvPr id="20" name="Icon 3" descr="Benchmark with Flipkart">    </p:cNvPr>
          <p:cNvPicPr>
            <a:picLocks noChangeAspect="1"/>
          </p:cNvPicPr>
          <p:nvPr/>
        </p:nvPicPr>
        <p:blipFill>
          <a:blip r:embed="rId3"/>
          <a:stretch>
            <a:fillRect/>
          </a:stretch>
        </p:blipFill>
        <p:spPr>
          <a:xfrm>
            <a:off x="4910328" y="3081528"/>
            <a:ext cx="329184" cy="329184"/>
          </a:xfrm>
          <a:prstGeom prst="rect">
            <a:avLst/>
          </a:prstGeom>
        </p:spPr>
      </p:pic>
      <p:sp>
        <p:nvSpPr>
          <p:cNvPr id="21" name="Objective 3"/>
          <p:cNvSpPr txBox="1"/>
          <p:nvPr/>
        </p:nvSpPr>
        <p:spPr>
          <a:xfrm>
            <a:off x="5577840" y="2926080"/>
            <a:ext cx="3108960" cy="731520"/>
          </a:xfrm>
          <a:prstGeom prst="rect">
            <a:avLst/>
          </a:prstGeom>
          <a:noFill/>
          <a:ln/>
        </p:spPr>
        <p:txBody>
          <a:bodyPr wrap="square" lIns="0" tIns="0" rIns="0" bIns="0" rtlCol="0" anchor="ctr"/>
          <a:lstStyle/>
          <a:p>
            <a:pPr indent="0" marL="0">
              <a:buNone/>
            </a:pPr>
            <a:r>
              <a:rPr lang="en-US" sz="1600" b="1" dirty="0">
                <a:solidFill>
                  <a:srgbClr val="1F3A5F"/>
                </a:solidFill>
              </a:rPr>
              <a:t>Benchmark with Flipkart</a:t>
            </a:r>
            <a:endParaRPr lang="en-US" sz="1600" dirty="0"/>
          </a:p>
          <a:p>
            <a:pPr indent="0" marL="0">
              <a:buNone/>
            </a:pPr>
            <a:r>
              <a:rPr lang="en-US" sz="1400" dirty="0">
                <a:solidFill>
                  <a:srgbClr val="1A2236"/>
                </a:solidFill>
              </a:rPr>
              <a:t>Compare with public complaint data</a:t>
            </a:r>
            <a:endParaRPr lang="en-US" sz="1600" dirty="0"/>
          </a:p>
        </p:txBody>
      </p:sp>
      <p:sp>
        <p:nvSpPr>
          <p:cNvPr id="22" name="Icon circle 4"/>
          <p:cNvSpPr/>
          <p:nvPr/>
        </p:nvSpPr>
        <p:spPr>
          <a:xfrm>
            <a:off x="4754880" y="3794760"/>
            <a:ext cx="640080" cy="640080"/>
          </a:xfrm>
          <a:prstGeom prst="ellipse">
            <a:avLst/>
          </a:prstGeom>
          <a:solidFill>
            <a:schemeClr val="accent1"/>
          </a:solidFill>
          <a:ln w="12700">
            <a:solidFill>
              <a:schemeClr val="accent1"/>
            </a:solidFill>
            <a:prstDash val="solid"/>
          </a:ln>
        </p:spPr>
      </p:sp>
      <p:pic>
        <p:nvPicPr>
          <p:cNvPr id="23" name="Icon 4" descr="Recommend improvements">    </p:cNvPr>
          <p:cNvPicPr>
            <a:picLocks noChangeAspect="1"/>
          </p:cNvPicPr>
          <p:nvPr/>
        </p:nvPicPr>
        <p:blipFill>
          <a:blip r:embed="rId4"/>
          <a:stretch>
            <a:fillRect/>
          </a:stretch>
        </p:blipFill>
        <p:spPr>
          <a:xfrm>
            <a:off x="4910328" y="3950208"/>
            <a:ext cx="329184" cy="329184"/>
          </a:xfrm>
          <a:prstGeom prst="rect">
            <a:avLst/>
          </a:prstGeom>
        </p:spPr>
      </p:pic>
      <p:sp>
        <p:nvSpPr>
          <p:cNvPr id="24" name="Objective 4"/>
          <p:cNvSpPr txBox="1"/>
          <p:nvPr/>
        </p:nvSpPr>
        <p:spPr>
          <a:xfrm>
            <a:off x="5577840" y="3794760"/>
            <a:ext cx="3108960" cy="731520"/>
          </a:xfrm>
          <a:prstGeom prst="rect">
            <a:avLst/>
          </a:prstGeom>
          <a:noFill/>
          <a:ln/>
        </p:spPr>
        <p:txBody>
          <a:bodyPr wrap="square" lIns="0" tIns="0" rIns="0" bIns="0" rtlCol="0" anchor="ctr"/>
          <a:lstStyle/>
          <a:p>
            <a:pPr indent="0" marL="0">
              <a:buNone/>
            </a:pPr>
            <a:r>
              <a:rPr lang="en-US" sz="1600" b="1" dirty="0">
                <a:solidFill>
                  <a:srgbClr val="1F3A5F"/>
                </a:solidFill>
              </a:rPr>
              <a:t>Recommend improvements</a:t>
            </a:r>
            <a:endParaRPr lang="en-US" sz="1600" dirty="0"/>
          </a:p>
          <a:p>
            <a:pPr indent="0" marL="0">
              <a:buNone/>
            </a:pPr>
            <a:r>
              <a:rPr lang="en-US" sz="1400" dirty="0">
                <a:solidFill>
                  <a:srgbClr val="1A2236"/>
                </a:solidFill>
              </a:rPr>
              <a:t>Practical, prioritised changes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chemeClr val="tx2"/>
                </a:solidFill>
              </a:rPr>
              <a:t>68% of customers are satisfied overall</a:t>
            </a:r>
            <a:endParaRPr lang="en-US" sz="2800" dirty="0"/>
          </a:p>
        </p:txBody>
      </p:sp>
      <p:graphicFrame>
        <p:nvGraphicFramePr>
          <p:cNvPr id="3" name="Chart 0" descr=""/>
          <p:cNvGraphicFramePr/>
          <p:nvPr/>
        </p:nvGraphicFramePr>
        <p:xfrm>
          <a:off x="457200" y="1097280"/>
          <a:ext cx="4206240" cy="3566160"/>
        </p:xfrm>
        <a:graphic xmlns:a="http://schemas.openxmlformats.org/drawingml/2006/main">
          <a:graphicData uri="http://schemas.openxmlformats.org/drawingml/2006/chart">
            <c:chart xmlns:c="http://schemas.openxmlformats.org/drawingml/2006/chart" r:id="rId1"/>
          </a:graphicData>
        </a:graphic>
      </p:graphicFrame>
      <p:sp>
        <p:nvSpPr>
          <p:cNvPr id="4" name="Stat card 1"/>
          <p:cNvSpPr/>
          <p:nvPr/>
        </p:nvSpPr>
        <p:spPr>
          <a:xfrm>
            <a:off x="5029200" y="1188720"/>
            <a:ext cx="3657600" cy="914400"/>
          </a:xfrm>
          <a:prstGeom prst="roundRect">
            <a:avLst>
              <a:gd name="adj" fmla="val 10000"/>
            </a:avLst>
          </a:prstGeom>
          <a:solidFill>
            <a:schemeClr val="bg2"/>
          </a:solidFill>
          <a:ln w="12700">
            <a:solidFill>
              <a:schemeClr val="bg2"/>
            </a:solidFill>
            <a:prstDash val="solid"/>
          </a:ln>
        </p:spPr>
      </p:sp>
      <p:sp>
        <p:nvSpPr>
          <p:cNvPr id="5" name="Stat value 1"/>
          <p:cNvSpPr txBox="1"/>
          <p:nvPr/>
        </p:nvSpPr>
        <p:spPr>
          <a:xfrm>
            <a:off x="5166360" y="1188720"/>
            <a:ext cx="1737360" cy="914400"/>
          </a:xfrm>
          <a:prstGeom prst="rect">
            <a:avLst/>
          </a:prstGeom>
          <a:noFill/>
          <a:ln/>
        </p:spPr>
        <p:txBody>
          <a:bodyPr wrap="square" lIns="0" tIns="0" rIns="0" bIns="0" rtlCol="0" anchor="ctr"/>
          <a:lstStyle/>
          <a:p>
            <a:pPr indent="0" marL="0">
              <a:buNone/>
            </a:pPr>
            <a:r>
              <a:rPr lang="en-US" sz="2800" b="1" dirty="0">
                <a:solidFill>
                  <a:srgbClr val="2B5C8A"/>
                </a:solidFill>
              </a:rPr>
              <a:t>68%</a:t>
            </a:r>
            <a:endParaRPr lang="en-US" sz="2800" dirty="0"/>
          </a:p>
        </p:txBody>
      </p:sp>
      <p:sp>
        <p:nvSpPr>
          <p:cNvPr id="6" name="Stat label 1"/>
          <p:cNvSpPr txBox="1"/>
          <p:nvPr/>
        </p:nvSpPr>
        <p:spPr>
          <a:xfrm>
            <a:off x="6903720" y="1188720"/>
            <a:ext cx="1691640" cy="914400"/>
          </a:xfrm>
          <a:prstGeom prst="rect">
            <a:avLst/>
          </a:prstGeom>
          <a:noFill/>
          <a:ln/>
        </p:spPr>
        <p:txBody>
          <a:bodyPr wrap="square" lIns="0" tIns="0" rIns="0" bIns="0" rtlCol="0" anchor="ctr"/>
          <a:lstStyle/>
          <a:p>
            <a:pPr indent="0" marL="0">
              <a:buNone/>
            </a:pPr>
            <a:r>
              <a:rPr lang="en-US" sz="1400" dirty="0">
                <a:solidFill>
                  <a:srgbClr val="1A2236"/>
                </a:solidFill>
              </a:rPr>
              <a:t>rated us 4 or 5 (CSAT)</a:t>
            </a:r>
            <a:endParaRPr lang="en-US" sz="1400" dirty="0"/>
          </a:p>
        </p:txBody>
      </p:sp>
      <p:sp>
        <p:nvSpPr>
          <p:cNvPr id="7" name="Stat card 2"/>
          <p:cNvSpPr/>
          <p:nvPr/>
        </p:nvSpPr>
        <p:spPr>
          <a:xfrm>
            <a:off x="5029200" y="2240280"/>
            <a:ext cx="3657600" cy="914400"/>
          </a:xfrm>
          <a:prstGeom prst="roundRect">
            <a:avLst>
              <a:gd name="adj" fmla="val 10000"/>
            </a:avLst>
          </a:prstGeom>
          <a:solidFill>
            <a:schemeClr val="bg2"/>
          </a:solidFill>
          <a:ln w="12700">
            <a:solidFill>
              <a:schemeClr val="bg2"/>
            </a:solidFill>
            <a:prstDash val="solid"/>
          </a:ln>
        </p:spPr>
      </p:sp>
      <p:sp>
        <p:nvSpPr>
          <p:cNvPr id="8" name="Stat value 2"/>
          <p:cNvSpPr txBox="1"/>
          <p:nvPr/>
        </p:nvSpPr>
        <p:spPr>
          <a:xfrm>
            <a:off x="5166360" y="2240280"/>
            <a:ext cx="1737360" cy="914400"/>
          </a:xfrm>
          <a:prstGeom prst="rect">
            <a:avLst/>
          </a:prstGeom>
          <a:noFill/>
          <a:ln/>
        </p:spPr>
        <p:txBody>
          <a:bodyPr wrap="square" lIns="0" tIns="0" rIns="0" bIns="0" rtlCol="0" anchor="ctr"/>
          <a:lstStyle/>
          <a:p>
            <a:pPr indent="0" marL="0">
              <a:buNone/>
            </a:pPr>
            <a:r>
              <a:rPr lang="en-US" sz="2800" b="1" dirty="0">
                <a:solidFill>
                  <a:srgbClr val="2A9D8F"/>
                </a:solidFill>
              </a:rPr>
              <a:t>3.86 / 5</a:t>
            </a:r>
            <a:endParaRPr lang="en-US" sz="2800" dirty="0"/>
          </a:p>
        </p:txBody>
      </p:sp>
      <p:sp>
        <p:nvSpPr>
          <p:cNvPr id="9" name="Stat label 2"/>
          <p:cNvSpPr txBox="1"/>
          <p:nvPr/>
        </p:nvSpPr>
        <p:spPr>
          <a:xfrm>
            <a:off x="6903720" y="2240280"/>
            <a:ext cx="1691640" cy="914400"/>
          </a:xfrm>
          <a:prstGeom prst="rect">
            <a:avLst/>
          </a:prstGeom>
          <a:noFill/>
          <a:ln/>
        </p:spPr>
        <p:txBody>
          <a:bodyPr wrap="square" lIns="0" tIns="0" rIns="0" bIns="0" rtlCol="0" anchor="ctr"/>
          <a:lstStyle/>
          <a:p>
            <a:pPr indent="0" marL="0">
              <a:buNone/>
            </a:pPr>
            <a:r>
              <a:rPr lang="en-US" sz="1400" dirty="0">
                <a:solidFill>
                  <a:srgbClr val="1A2236"/>
                </a:solidFill>
              </a:rPr>
              <a:t>average overall rating</a:t>
            </a:r>
            <a:endParaRPr lang="en-US" sz="1400" dirty="0"/>
          </a:p>
        </p:txBody>
      </p:sp>
      <p:sp>
        <p:nvSpPr>
          <p:cNvPr id="10" name="Stat card 3"/>
          <p:cNvSpPr/>
          <p:nvPr/>
        </p:nvSpPr>
        <p:spPr>
          <a:xfrm>
            <a:off x="5029200" y="3291840"/>
            <a:ext cx="3657600" cy="914400"/>
          </a:xfrm>
          <a:prstGeom prst="roundRect">
            <a:avLst>
              <a:gd name="adj" fmla="val 10000"/>
            </a:avLst>
          </a:prstGeom>
          <a:solidFill>
            <a:schemeClr val="bg2"/>
          </a:solidFill>
          <a:ln w="12700">
            <a:solidFill>
              <a:schemeClr val="bg2"/>
            </a:solidFill>
            <a:prstDash val="solid"/>
          </a:ln>
        </p:spPr>
      </p:sp>
      <p:sp>
        <p:nvSpPr>
          <p:cNvPr id="11" name="Stat value 3"/>
          <p:cNvSpPr txBox="1"/>
          <p:nvPr/>
        </p:nvSpPr>
        <p:spPr>
          <a:xfrm>
            <a:off x="5166360" y="3291840"/>
            <a:ext cx="1737360" cy="914400"/>
          </a:xfrm>
          <a:prstGeom prst="rect">
            <a:avLst/>
          </a:prstGeom>
          <a:noFill/>
          <a:ln/>
        </p:spPr>
        <p:txBody>
          <a:bodyPr wrap="square" lIns="0" tIns="0" rIns="0" bIns="0" rtlCol="0" anchor="ctr"/>
          <a:lstStyle/>
          <a:p>
            <a:pPr indent="0" marL="0">
              <a:buNone/>
            </a:pPr>
            <a:r>
              <a:rPr lang="en-US" sz="2800" b="1" dirty="0">
                <a:solidFill>
                  <a:srgbClr val="E8833A"/>
                </a:solidFill>
              </a:rPr>
              <a:t>58%</a:t>
            </a:r>
            <a:endParaRPr lang="en-US" sz="2800" dirty="0"/>
          </a:p>
        </p:txBody>
      </p:sp>
      <p:sp>
        <p:nvSpPr>
          <p:cNvPr id="12" name="Stat label 3"/>
          <p:cNvSpPr txBox="1"/>
          <p:nvPr/>
        </p:nvSpPr>
        <p:spPr>
          <a:xfrm>
            <a:off x="6903720" y="3291840"/>
            <a:ext cx="1691640" cy="914400"/>
          </a:xfrm>
          <a:prstGeom prst="rect">
            <a:avLst/>
          </a:prstGeom>
          <a:noFill/>
          <a:ln/>
        </p:spPr>
        <p:txBody>
          <a:bodyPr wrap="square" lIns="0" tIns="0" rIns="0" bIns="0" rtlCol="0" anchor="ctr"/>
          <a:lstStyle/>
          <a:p>
            <a:pPr indent="0" marL="0">
              <a:buNone/>
            </a:pPr>
            <a:r>
              <a:rPr lang="en-US" sz="1400" dirty="0">
                <a:solidFill>
                  <a:srgbClr val="1A2236"/>
                </a:solidFill>
              </a:rPr>
              <a:t>would definitely recommend</a:t>
            </a:r>
            <a:endParaRPr lang="en-US" sz="1400" dirty="0"/>
          </a:p>
        </p:txBody>
      </p:sp>
      <p:sp>
        <p:nvSpPr>
          <p:cNvPr id="13" name="Takeaway"/>
          <p:cNvSpPr txBox="1"/>
          <p:nvPr/>
        </p:nvSpPr>
        <p:spPr>
          <a:xfrm>
            <a:off x="5029200" y="4315968"/>
            <a:ext cx="3657600" cy="411480"/>
          </a:xfrm>
          <a:prstGeom prst="rect">
            <a:avLst/>
          </a:prstGeom>
          <a:noFill/>
          <a:ln/>
        </p:spPr>
        <p:txBody>
          <a:bodyPr wrap="square" lIns="0" tIns="0" rIns="0" bIns="0" rtlCol="0" anchor="ctr"/>
          <a:lstStyle/>
          <a:p>
            <a:pPr indent="0" marL="0">
              <a:buNone/>
            </a:pPr>
            <a:r>
              <a:rPr lang="en-US" sz="1200" i="1" dirty="0">
                <a:solidFill>
                  <a:srgbClr val="1F3A5F"/>
                </a:solidFill>
              </a:rPr>
              <a:t>Good, but not yet loyal: only 58% would definitely recommend the store.</a:t>
            </a:r>
            <a:endParaRPr lang="en-US" sz="1200" dirty="0"/>
          </a:p>
        </p:txBody>
      </p:sp>
      <p:sp>
        <p:nvSpPr>
          <p:cNvPr id="14" name="Caption"/>
          <p:cNvSpPr txBox="1"/>
          <p:nvPr/>
        </p:nvSpPr>
        <p:spPr>
          <a:xfrm>
            <a:off x="457200" y="4754880"/>
            <a:ext cx="7680960" cy="274320"/>
          </a:xfrm>
          <a:prstGeom prst="rect">
            <a:avLst/>
          </a:prstGeom>
          <a:noFill/>
          <a:ln/>
        </p:spPr>
        <p:txBody>
          <a:bodyPr wrap="square" lIns="0" tIns="0" rIns="0" bIns="0" rtlCol="0" anchor="ctr"/>
          <a:lstStyle/>
          <a:p>
            <a:pPr indent="0" marL="0">
              <a:buNone/>
            </a:pPr>
            <a:r>
              <a:rPr lang="en-US" sz="1000" dirty="0">
                <a:solidFill>
                  <a:srgbClr val="8A94A6"/>
                </a:solidFill>
              </a:rPr>
              <a:t>Source: Excel analysis of sample survey data (n = 50)</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chemeClr val="tx2"/>
                </a:solidFill>
              </a:rPr>
              <a:t>Product and website shine; support and delivery lag</a:t>
            </a:r>
            <a:endParaRPr lang="en-US" sz="2800" dirty="0"/>
          </a:p>
        </p:txBody>
      </p:sp>
      <p:graphicFrame>
        <p:nvGraphicFramePr>
          <p:cNvPr id="3" name="Chart 0" descr=""/>
          <p:cNvGraphicFramePr/>
          <p:nvPr/>
        </p:nvGraphicFramePr>
        <p:xfrm>
          <a:off x="457200" y="109728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4" name="Insight card 1"/>
          <p:cNvSpPr/>
          <p:nvPr/>
        </p:nvSpPr>
        <p:spPr>
          <a:xfrm>
            <a:off x="5852160" y="1188720"/>
            <a:ext cx="2834640" cy="1005840"/>
          </a:xfrm>
          <a:prstGeom prst="roundRect">
            <a:avLst>
              <a:gd name="adj" fmla="val 9091"/>
            </a:avLst>
          </a:prstGeom>
          <a:solidFill>
            <a:schemeClr val="bg2"/>
          </a:solidFill>
          <a:ln w="12700">
            <a:solidFill>
              <a:schemeClr val="bg2"/>
            </a:solidFill>
            <a:prstDash val="solid"/>
          </a:ln>
        </p:spPr>
      </p:sp>
      <p:sp>
        <p:nvSpPr>
          <p:cNvPr id="5" name="Insight text 1"/>
          <p:cNvSpPr txBox="1"/>
          <p:nvPr/>
        </p:nvSpPr>
        <p:spPr>
          <a:xfrm>
            <a:off x="5989320" y="1188720"/>
            <a:ext cx="2606040" cy="1005840"/>
          </a:xfrm>
          <a:prstGeom prst="rect">
            <a:avLst/>
          </a:prstGeom>
          <a:noFill/>
          <a:ln/>
        </p:spPr>
        <p:txBody>
          <a:bodyPr wrap="square" lIns="0" tIns="0" rIns="0" bIns="0" rtlCol="0" anchor="ctr"/>
          <a:lstStyle/>
          <a:p>
            <a:pPr indent="0" marL="0">
              <a:buNone/>
            </a:pPr>
            <a:r>
              <a:rPr lang="en-US" sz="1600" b="1" dirty="0">
                <a:solidFill>
                  <a:srgbClr val="2B5C8A"/>
                </a:solidFill>
              </a:rPr>
              <a:t>Strongest</a:t>
            </a:r>
            <a:endParaRPr lang="en-US" sz="1600" dirty="0"/>
          </a:p>
          <a:p>
            <a:pPr indent="0" marL="0">
              <a:buNone/>
            </a:pPr>
            <a:r>
              <a:rPr lang="en-US" sz="1400" dirty="0">
                <a:solidFill>
                  <a:srgbClr val="1A2236"/>
                </a:solidFill>
              </a:rPr>
              <a:t>Product quality 4.2 and website ease of use 4.0</a:t>
            </a:r>
            <a:endParaRPr lang="en-US" sz="1600" dirty="0"/>
          </a:p>
        </p:txBody>
      </p:sp>
      <p:sp>
        <p:nvSpPr>
          <p:cNvPr id="6" name="Insight card 2"/>
          <p:cNvSpPr/>
          <p:nvPr/>
        </p:nvSpPr>
        <p:spPr>
          <a:xfrm>
            <a:off x="5852160" y="2377440"/>
            <a:ext cx="2834640" cy="1005840"/>
          </a:xfrm>
          <a:prstGeom prst="roundRect">
            <a:avLst>
              <a:gd name="adj" fmla="val 9091"/>
            </a:avLst>
          </a:prstGeom>
          <a:solidFill>
            <a:schemeClr val="bg2"/>
          </a:solidFill>
          <a:ln w="12700">
            <a:solidFill>
              <a:schemeClr val="bg2"/>
            </a:solidFill>
            <a:prstDash val="solid"/>
          </a:ln>
        </p:spPr>
      </p:sp>
      <p:sp>
        <p:nvSpPr>
          <p:cNvPr id="7" name="Insight text 2"/>
          <p:cNvSpPr txBox="1"/>
          <p:nvPr/>
        </p:nvSpPr>
        <p:spPr>
          <a:xfrm>
            <a:off x="5989320" y="2377440"/>
            <a:ext cx="2606040" cy="1005840"/>
          </a:xfrm>
          <a:prstGeom prst="rect">
            <a:avLst/>
          </a:prstGeom>
          <a:noFill/>
          <a:ln/>
        </p:spPr>
        <p:txBody>
          <a:bodyPr wrap="square" lIns="0" tIns="0" rIns="0" bIns="0" rtlCol="0" anchor="ctr"/>
          <a:lstStyle/>
          <a:p>
            <a:pPr indent="0" marL="0">
              <a:buNone/>
            </a:pPr>
            <a:r>
              <a:rPr lang="en-US" sz="1600" b="1" dirty="0">
                <a:solidFill>
                  <a:srgbClr val="E8833A"/>
                </a:solidFill>
              </a:rPr>
              <a:t>Needs work</a:t>
            </a:r>
            <a:endParaRPr lang="en-US" sz="1600" dirty="0"/>
          </a:p>
          <a:p>
            <a:pPr indent="0" marL="0">
              <a:buNone/>
            </a:pPr>
            <a:r>
              <a:rPr lang="en-US" sz="1400" dirty="0">
                <a:solidFill>
                  <a:srgbClr val="1A2236"/>
                </a:solidFill>
              </a:rPr>
              <a:t>Packaging 3.4, delivery 3.1, returns 3.0</a:t>
            </a:r>
            <a:endParaRPr lang="en-US" sz="1600" dirty="0"/>
          </a:p>
        </p:txBody>
      </p:sp>
      <p:sp>
        <p:nvSpPr>
          <p:cNvPr id="8" name="Insight card 3"/>
          <p:cNvSpPr/>
          <p:nvPr/>
        </p:nvSpPr>
        <p:spPr>
          <a:xfrm>
            <a:off x="5852160" y="3566160"/>
            <a:ext cx="2834640" cy="1005840"/>
          </a:xfrm>
          <a:prstGeom prst="roundRect">
            <a:avLst>
              <a:gd name="adj" fmla="val 9091"/>
            </a:avLst>
          </a:prstGeom>
          <a:solidFill>
            <a:schemeClr val="bg2"/>
          </a:solidFill>
          <a:ln w="12700">
            <a:solidFill>
              <a:schemeClr val="bg2"/>
            </a:solidFill>
            <a:prstDash val="solid"/>
          </a:ln>
        </p:spPr>
      </p:sp>
      <p:sp>
        <p:nvSpPr>
          <p:cNvPr id="9" name="Insight text 3"/>
          <p:cNvSpPr txBox="1"/>
          <p:nvPr/>
        </p:nvSpPr>
        <p:spPr>
          <a:xfrm>
            <a:off x="5989320" y="3566160"/>
            <a:ext cx="2606040" cy="1005840"/>
          </a:xfrm>
          <a:prstGeom prst="rect">
            <a:avLst/>
          </a:prstGeom>
          <a:noFill/>
          <a:ln/>
        </p:spPr>
        <p:txBody>
          <a:bodyPr wrap="square" lIns="0" tIns="0" rIns="0" bIns="0" rtlCol="0" anchor="ctr"/>
          <a:lstStyle/>
          <a:p>
            <a:pPr indent="0" marL="0">
              <a:buNone/>
            </a:pPr>
            <a:r>
              <a:rPr lang="en-US" sz="1600" b="1" dirty="0">
                <a:solidFill>
                  <a:srgbClr val="C0504D"/>
                </a:solidFill>
              </a:rPr>
              <a:t>Weakest</a:t>
            </a:r>
            <a:endParaRPr lang="en-US" sz="1600" dirty="0"/>
          </a:p>
          <a:p>
            <a:pPr indent="0" marL="0">
              <a:buNone/>
            </a:pPr>
            <a:r>
              <a:rPr lang="en-US" sz="1400" dirty="0">
                <a:solidFill>
                  <a:srgbClr val="1A2236"/>
                </a:solidFill>
              </a:rPr>
              <a:t>Customer support 2.9, with 32% of customers dissatisfied</a:t>
            </a:r>
            <a:endParaRPr lang="en-US" sz="1600" dirty="0"/>
          </a:p>
        </p:txBody>
      </p:sp>
      <p:sp>
        <p:nvSpPr>
          <p:cNvPr id="10" name="Caption"/>
          <p:cNvSpPr txBox="1"/>
          <p:nvPr/>
        </p:nvSpPr>
        <p:spPr>
          <a:xfrm>
            <a:off x="457200" y="4754880"/>
            <a:ext cx="7680960" cy="274320"/>
          </a:xfrm>
          <a:prstGeom prst="rect">
            <a:avLst/>
          </a:prstGeom>
          <a:noFill/>
          <a:ln/>
        </p:spPr>
        <p:txBody>
          <a:bodyPr wrap="square" lIns="0" tIns="0" rIns="0" bIns="0" rtlCol="0" anchor="ctr"/>
          <a:lstStyle/>
          <a:p>
            <a:pPr indent="0" marL="0">
              <a:buNone/>
            </a:pPr>
            <a:r>
              <a:rPr lang="en-US" sz="1000" dirty="0">
                <a:solidFill>
                  <a:srgbClr val="8A94A6"/>
                </a:solidFill>
              </a:rPr>
              <a:t>Source: Excel analysis of sample survey data (n = 50). Red bars are below 3.5</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chemeClr val="tx2"/>
                </a:solidFill>
              </a:rPr>
              <a:t>Late delivery and slow support top the complaints</a:t>
            </a:r>
            <a:endParaRPr lang="en-US" sz="2800" dirty="0"/>
          </a:p>
        </p:txBody>
      </p:sp>
      <p:graphicFrame>
        <p:nvGraphicFramePr>
          <p:cNvPr id="3" name="Chart 0" descr=""/>
          <p:cNvGraphicFramePr/>
          <p:nvPr/>
        </p:nvGraphicFramePr>
        <p:xfrm>
          <a:off x="457200" y="1097280"/>
          <a:ext cx="4937760" cy="3566160"/>
        </p:xfrm>
        <a:graphic xmlns:a="http://schemas.openxmlformats.org/drawingml/2006/main">
          <a:graphicData uri="http://schemas.openxmlformats.org/drawingml/2006/chart">
            <c:chart xmlns:c="http://schemas.openxmlformats.org/drawingml/2006/chart" r:id="rId1"/>
          </a:graphicData>
        </a:graphic>
      </p:graphicFrame>
      <p:sp>
        <p:nvSpPr>
          <p:cNvPr id="4" name="Flipkart panel"/>
          <p:cNvSpPr/>
          <p:nvPr/>
        </p:nvSpPr>
        <p:spPr>
          <a:xfrm>
            <a:off x="5669280" y="1188720"/>
            <a:ext cx="3017520" cy="3383280"/>
          </a:xfrm>
          <a:prstGeom prst="roundRect">
            <a:avLst>
              <a:gd name="adj" fmla="val 3030"/>
            </a:avLst>
          </a:prstGeom>
          <a:solidFill>
            <a:schemeClr val="bg2"/>
          </a:solidFill>
          <a:ln w="12700">
            <a:solidFill>
              <a:schemeClr val="bg2"/>
            </a:solidFill>
            <a:prstDash val="solid"/>
          </a:ln>
        </p:spPr>
      </p:sp>
      <p:sp>
        <p:nvSpPr>
          <p:cNvPr id="5" name="Panel title"/>
          <p:cNvSpPr txBox="1"/>
          <p:nvPr/>
        </p:nvSpPr>
        <p:spPr>
          <a:xfrm>
            <a:off x="5852160" y="1280160"/>
            <a:ext cx="2651760" cy="548640"/>
          </a:xfrm>
          <a:prstGeom prst="rect">
            <a:avLst/>
          </a:prstGeom>
          <a:noFill/>
          <a:ln/>
        </p:spPr>
        <p:txBody>
          <a:bodyPr wrap="square" lIns="0" tIns="0" rIns="0" bIns="0" rtlCol="0" anchor="t"/>
          <a:lstStyle/>
          <a:p>
            <a:pPr indent="0" marL="0">
              <a:buNone/>
            </a:pPr>
            <a:r>
              <a:rPr lang="en-US" sz="1600" b="1" dirty="0">
                <a:solidFill>
                  <a:srgbClr val="1F3A5F"/>
                </a:solidFill>
              </a:rPr>
              <a:t>Flipkart shows the same pattern</a:t>
            </a:r>
            <a:endParaRPr lang="en-US" sz="1600" dirty="0"/>
          </a:p>
        </p:txBody>
      </p:sp>
      <p:sp>
        <p:nvSpPr>
          <p:cNvPr id="6" name="Flipkart value 1"/>
          <p:cNvSpPr txBox="1"/>
          <p:nvPr/>
        </p:nvSpPr>
        <p:spPr>
          <a:xfrm>
            <a:off x="5852160" y="1920240"/>
            <a:ext cx="1051560" cy="731520"/>
          </a:xfrm>
          <a:prstGeom prst="rect">
            <a:avLst/>
          </a:prstGeom>
          <a:noFill/>
          <a:ln/>
        </p:spPr>
        <p:txBody>
          <a:bodyPr wrap="square" lIns="0" tIns="0" rIns="0" bIns="0" rtlCol="0" anchor="ctr"/>
          <a:lstStyle/>
          <a:p>
            <a:pPr indent="0" marL="0">
              <a:buNone/>
            </a:pPr>
            <a:r>
              <a:rPr lang="en-US" sz="2200" b="1" dirty="0">
                <a:solidFill>
                  <a:srgbClr val="C0504D"/>
                </a:solidFill>
              </a:rPr>
              <a:t>9,243</a:t>
            </a:r>
            <a:endParaRPr lang="en-US" sz="2200" dirty="0"/>
          </a:p>
        </p:txBody>
      </p:sp>
      <p:sp>
        <p:nvSpPr>
          <p:cNvPr id="7" name="Flipkart label 1"/>
          <p:cNvSpPr txBox="1"/>
          <p:nvPr/>
        </p:nvSpPr>
        <p:spPr>
          <a:xfrm>
            <a:off x="6949440" y="1920240"/>
            <a:ext cx="1645920" cy="731520"/>
          </a:xfrm>
          <a:prstGeom prst="rect">
            <a:avLst/>
          </a:prstGeom>
          <a:noFill/>
          <a:ln/>
        </p:spPr>
        <p:txBody>
          <a:bodyPr wrap="square" lIns="0" tIns="0" rIns="0" bIns="0" rtlCol="0" anchor="ctr"/>
          <a:lstStyle/>
          <a:p>
            <a:pPr indent="0" marL="0">
              <a:buNone/>
            </a:pPr>
            <a:r>
              <a:rPr lang="en-US" sz="1400" dirty="0">
                <a:solidFill>
                  <a:srgbClr val="1A2236"/>
                </a:solidFill>
              </a:rPr>
              <a:t>defective or damaged products</a:t>
            </a:r>
            <a:endParaRPr lang="en-US" sz="1400" dirty="0"/>
          </a:p>
        </p:txBody>
      </p:sp>
      <p:sp>
        <p:nvSpPr>
          <p:cNvPr id="8" name="Flipkart value 2"/>
          <p:cNvSpPr txBox="1"/>
          <p:nvPr/>
        </p:nvSpPr>
        <p:spPr>
          <a:xfrm>
            <a:off x="5852160" y="2788920"/>
            <a:ext cx="1051560" cy="731520"/>
          </a:xfrm>
          <a:prstGeom prst="rect">
            <a:avLst/>
          </a:prstGeom>
          <a:noFill/>
          <a:ln/>
        </p:spPr>
        <p:txBody>
          <a:bodyPr wrap="square" lIns="0" tIns="0" rIns="0" bIns="0" rtlCol="0" anchor="ctr"/>
          <a:lstStyle/>
          <a:p>
            <a:pPr indent="0" marL="0">
              <a:buNone/>
            </a:pPr>
            <a:r>
              <a:rPr lang="en-US" sz="2200" b="1" dirty="0">
                <a:solidFill>
                  <a:srgbClr val="C0504D"/>
                </a:solidFill>
              </a:rPr>
              <a:t>6,179</a:t>
            </a:r>
            <a:endParaRPr lang="en-US" sz="2200" dirty="0"/>
          </a:p>
        </p:txBody>
      </p:sp>
      <p:sp>
        <p:nvSpPr>
          <p:cNvPr id="9" name="Flipkart label 2"/>
          <p:cNvSpPr txBox="1"/>
          <p:nvPr/>
        </p:nvSpPr>
        <p:spPr>
          <a:xfrm>
            <a:off x="6949440" y="2788920"/>
            <a:ext cx="1645920" cy="731520"/>
          </a:xfrm>
          <a:prstGeom prst="rect">
            <a:avLst/>
          </a:prstGeom>
          <a:noFill/>
          <a:ln/>
        </p:spPr>
        <p:txBody>
          <a:bodyPr wrap="square" lIns="0" tIns="0" rIns="0" bIns="0" rtlCol="0" anchor="ctr"/>
          <a:lstStyle/>
          <a:p>
            <a:pPr indent="0" marL="0">
              <a:buNone/>
            </a:pPr>
            <a:r>
              <a:rPr lang="en-US" sz="1400" dirty="0">
                <a:solidFill>
                  <a:srgbClr val="1A2236"/>
                </a:solidFill>
              </a:rPr>
              <a:t>customer service issues</a:t>
            </a:r>
            <a:endParaRPr lang="en-US" sz="1400" dirty="0"/>
          </a:p>
        </p:txBody>
      </p:sp>
      <p:sp>
        <p:nvSpPr>
          <p:cNvPr id="10" name="Flipkart value 3"/>
          <p:cNvSpPr txBox="1"/>
          <p:nvPr/>
        </p:nvSpPr>
        <p:spPr>
          <a:xfrm>
            <a:off x="5852160" y="3657600"/>
            <a:ext cx="1051560" cy="731520"/>
          </a:xfrm>
          <a:prstGeom prst="rect">
            <a:avLst/>
          </a:prstGeom>
          <a:noFill/>
          <a:ln/>
        </p:spPr>
        <p:txBody>
          <a:bodyPr wrap="square" lIns="0" tIns="0" rIns="0" bIns="0" rtlCol="0" anchor="ctr"/>
          <a:lstStyle/>
          <a:p>
            <a:pPr indent="0" marL="0">
              <a:buNone/>
            </a:pPr>
            <a:r>
              <a:rPr lang="en-US" sz="2200" b="1" dirty="0">
                <a:solidFill>
                  <a:srgbClr val="C0504D"/>
                </a:solidFill>
              </a:rPr>
              <a:t>5,481</a:t>
            </a:r>
            <a:endParaRPr lang="en-US" sz="2200" dirty="0"/>
          </a:p>
        </p:txBody>
      </p:sp>
      <p:sp>
        <p:nvSpPr>
          <p:cNvPr id="11" name="Flipkart label 3"/>
          <p:cNvSpPr txBox="1"/>
          <p:nvPr/>
        </p:nvSpPr>
        <p:spPr>
          <a:xfrm>
            <a:off x="6949440" y="3657600"/>
            <a:ext cx="1645920" cy="731520"/>
          </a:xfrm>
          <a:prstGeom prst="rect">
            <a:avLst/>
          </a:prstGeom>
          <a:noFill/>
          <a:ln/>
        </p:spPr>
        <p:txBody>
          <a:bodyPr wrap="square" lIns="0" tIns="0" rIns="0" bIns="0" rtlCol="0" anchor="ctr"/>
          <a:lstStyle/>
          <a:p>
            <a:pPr indent="0" marL="0">
              <a:buNone/>
            </a:pPr>
            <a:r>
              <a:rPr lang="en-US" sz="1400" dirty="0">
                <a:solidFill>
                  <a:srgbClr val="1A2236"/>
                </a:solidFill>
              </a:rPr>
              <a:t>refund or replacement not provided</a:t>
            </a:r>
            <a:endParaRPr lang="en-US" sz="1400" dirty="0"/>
          </a:p>
        </p:txBody>
      </p:sp>
      <p:sp>
        <p:nvSpPr>
          <p:cNvPr id="12" name="Caption"/>
          <p:cNvSpPr txBox="1"/>
          <p:nvPr/>
        </p:nvSpPr>
        <p:spPr>
          <a:xfrm>
            <a:off x="457200" y="4754880"/>
            <a:ext cx="7680960" cy="274320"/>
          </a:xfrm>
          <a:prstGeom prst="rect">
            <a:avLst/>
          </a:prstGeom>
          <a:noFill/>
          <a:ln/>
        </p:spPr>
        <p:txBody>
          <a:bodyPr wrap="square" lIns="0" tIns="0" rIns="0" bIns="0" rtlCol="0" anchor="ctr"/>
          <a:lstStyle/>
          <a:p>
            <a:pPr indent="0" marL="0">
              <a:buNone/>
            </a:pPr>
            <a:r>
              <a:rPr lang="en-US" sz="1000" dirty="0">
                <a:solidFill>
                  <a:srgbClr val="8A94A6"/>
                </a:solidFill>
              </a:rPr>
              <a:t>Flipkart: grievances 1 Jan–19 Jul 2025, National Consumer Helpline. Counts reflect order volume. Survey: sample data</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chemeClr val="tx2"/>
                </a:solidFill>
              </a:rPr>
              <a:t>Proposed changes to improve the experience</a:t>
            </a:r>
            <a:endParaRPr lang="en-US" sz="2800" dirty="0"/>
          </a:p>
        </p:txBody>
      </p:sp>
      <p:sp>
        <p:nvSpPr>
          <p:cNvPr id="3" name="Change card 1"/>
          <p:cNvSpPr/>
          <p:nvPr/>
        </p:nvSpPr>
        <p:spPr>
          <a:xfrm>
            <a:off x="457200" y="1188720"/>
            <a:ext cx="2651760" cy="1645920"/>
          </a:xfrm>
          <a:prstGeom prst="roundRect">
            <a:avLst>
              <a:gd name="adj" fmla="val 5556"/>
            </a:avLst>
          </a:prstGeom>
          <a:solidFill>
            <a:schemeClr val="bg2"/>
          </a:solidFill>
          <a:ln w="12700">
            <a:solidFill>
              <a:schemeClr val="bg2"/>
            </a:solidFill>
            <a:prstDash val="solid"/>
          </a:ln>
        </p:spPr>
      </p:sp>
      <p:sp>
        <p:nvSpPr>
          <p:cNvPr id="4" name="Icon circle 1"/>
          <p:cNvSpPr/>
          <p:nvPr/>
        </p:nvSpPr>
        <p:spPr>
          <a:xfrm>
            <a:off x="594360" y="1325880"/>
            <a:ext cx="502920" cy="502920"/>
          </a:xfrm>
          <a:prstGeom prst="ellipse">
            <a:avLst/>
          </a:prstGeom>
          <a:solidFill>
            <a:srgbClr val="C0504D"/>
          </a:solidFill>
          <a:ln w="12700">
            <a:solidFill>
              <a:srgbClr val="C0504D"/>
            </a:solidFill>
            <a:prstDash val="solid"/>
          </a:ln>
        </p:spPr>
      </p:sp>
      <p:pic>
        <p:nvPicPr>
          <p:cNvPr id="5" name="Icon 1" descr="Customer support">    </p:cNvPr>
          <p:cNvPicPr>
            <a:picLocks noChangeAspect="1"/>
          </p:cNvPicPr>
          <p:nvPr/>
        </p:nvPicPr>
        <p:blipFill>
          <a:blip r:embed="rId1"/>
          <a:stretch>
            <a:fillRect/>
          </a:stretch>
        </p:blipFill>
        <p:spPr>
          <a:xfrm>
            <a:off x="713232" y="1444752"/>
            <a:ext cx="274320" cy="274320"/>
          </a:xfrm>
          <a:prstGeom prst="rect">
            <a:avLst/>
          </a:prstGeom>
        </p:spPr>
      </p:pic>
      <p:sp>
        <p:nvSpPr>
          <p:cNvPr id="6" name="Priority tag 1"/>
          <p:cNvSpPr txBox="1"/>
          <p:nvPr/>
        </p:nvSpPr>
        <p:spPr>
          <a:xfrm>
            <a:off x="2057400" y="1371600"/>
            <a:ext cx="914400" cy="365760"/>
          </a:xfrm>
          <a:prstGeom prst="rect">
            <a:avLst/>
          </a:prstGeom>
          <a:solidFill>
            <a:srgbClr val="C0504D"/>
          </a:solidFill>
          <a:ln/>
        </p:spPr>
        <p:txBody>
          <a:bodyPr wrap="square" lIns="0" tIns="0" rIns="0" bIns="0" rtlCol="0" anchor="ctr"/>
          <a:lstStyle/>
          <a:p>
            <a:pPr algn="ctr" indent="0" marL="0">
              <a:buNone/>
            </a:pPr>
            <a:r>
              <a:rPr lang="en-US" sz="1100" b="1" dirty="0">
                <a:solidFill>
                  <a:srgbClr val="FFFFFF"/>
                </a:solidFill>
              </a:rPr>
              <a:t>High</a:t>
            </a:r>
            <a:endParaRPr lang="en-US" sz="1100" dirty="0"/>
          </a:p>
        </p:txBody>
      </p:sp>
      <p:sp>
        <p:nvSpPr>
          <p:cNvPr id="7" name="Change text 1"/>
          <p:cNvSpPr txBox="1"/>
          <p:nvPr/>
        </p:nvSpPr>
        <p:spPr>
          <a:xfrm>
            <a:off x="594360" y="1920240"/>
            <a:ext cx="2377440" cy="868680"/>
          </a:xfrm>
          <a:prstGeom prst="rect">
            <a:avLst/>
          </a:prstGeom>
          <a:noFill/>
          <a:ln/>
        </p:spPr>
        <p:txBody>
          <a:bodyPr wrap="square" lIns="0" tIns="0" rIns="0" bIns="0" rtlCol="0" anchor="t"/>
          <a:lstStyle/>
          <a:p>
            <a:pPr indent="0" marL="0">
              <a:buNone/>
            </a:pPr>
            <a:r>
              <a:rPr lang="en-US" sz="1600" b="1" dirty="0">
                <a:solidFill>
                  <a:srgbClr val="1F3A5F"/>
                </a:solidFill>
              </a:rPr>
              <a:t>Customer support</a:t>
            </a:r>
            <a:endParaRPr lang="en-US" sz="1600" dirty="0"/>
          </a:p>
          <a:p>
            <a:pPr indent="0" marL="0">
              <a:buNone/>
            </a:pPr>
            <a:r>
              <a:rPr lang="en-US" sz="1400" dirty="0">
                <a:solidFill>
                  <a:srgbClr val="1A2236"/>
                </a:solidFill>
              </a:rPr>
              <a:t>Live chat and chatbot; reply within 24 hours</a:t>
            </a:r>
            <a:endParaRPr lang="en-US" sz="1600" dirty="0"/>
          </a:p>
        </p:txBody>
      </p:sp>
      <p:sp>
        <p:nvSpPr>
          <p:cNvPr id="8" name="Change card 2"/>
          <p:cNvSpPr/>
          <p:nvPr/>
        </p:nvSpPr>
        <p:spPr>
          <a:xfrm>
            <a:off x="3246120" y="1188720"/>
            <a:ext cx="2651760" cy="1645920"/>
          </a:xfrm>
          <a:prstGeom prst="roundRect">
            <a:avLst>
              <a:gd name="adj" fmla="val 5556"/>
            </a:avLst>
          </a:prstGeom>
          <a:solidFill>
            <a:schemeClr val="bg2"/>
          </a:solidFill>
          <a:ln w="12700">
            <a:solidFill>
              <a:schemeClr val="bg2"/>
            </a:solidFill>
            <a:prstDash val="solid"/>
          </a:ln>
        </p:spPr>
      </p:sp>
      <p:sp>
        <p:nvSpPr>
          <p:cNvPr id="9" name="Icon circle 2"/>
          <p:cNvSpPr/>
          <p:nvPr/>
        </p:nvSpPr>
        <p:spPr>
          <a:xfrm>
            <a:off x="3383280" y="1325880"/>
            <a:ext cx="502920" cy="502920"/>
          </a:xfrm>
          <a:prstGeom prst="ellipse">
            <a:avLst/>
          </a:prstGeom>
          <a:solidFill>
            <a:srgbClr val="C0504D"/>
          </a:solidFill>
          <a:ln w="12700">
            <a:solidFill>
              <a:srgbClr val="C0504D"/>
            </a:solidFill>
            <a:prstDash val="solid"/>
          </a:ln>
        </p:spPr>
      </p:sp>
      <p:pic>
        <p:nvPicPr>
          <p:cNvPr id="10" name="Icon 2" descr="Delivery">    </p:cNvPr>
          <p:cNvPicPr>
            <a:picLocks noChangeAspect="1"/>
          </p:cNvPicPr>
          <p:nvPr/>
        </p:nvPicPr>
        <p:blipFill>
          <a:blip r:embed="rId2"/>
          <a:stretch>
            <a:fillRect/>
          </a:stretch>
        </p:blipFill>
        <p:spPr>
          <a:xfrm>
            <a:off x="3502152" y="1444752"/>
            <a:ext cx="274320" cy="274320"/>
          </a:xfrm>
          <a:prstGeom prst="rect">
            <a:avLst/>
          </a:prstGeom>
        </p:spPr>
      </p:pic>
      <p:sp>
        <p:nvSpPr>
          <p:cNvPr id="11" name="Priority tag 2"/>
          <p:cNvSpPr txBox="1"/>
          <p:nvPr/>
        </p:nvSpPr>
        <p:spPr>
          <a:xfrm>
            <a:off x="4846320" y="1371600"/>
            <a:ext cx="914400" cy="365760"/>
          </a:xfrm>
          <a:prstGeom prst="rect">
            <a:avLst/>
          </a:prstGeom>
          <a:solidFill>
            <a:srgbClr val="C0504D"/>
          </a:solidFill>
          <a:ln/>
        </p:spPr>
        <p:txBody>
          <a:bodyPr wrap="square" lIns="0" tIns="0" rIns="0" bIns="0" rtlCol="0" anchor="ctr"/>
          <a:lstStyle/>
          <a:p>
            <a:pPr algn="ctr" indent="0" marL="0">
              <a:buNone/>
            </a:pPr>
            <a:r>
              <a:rPr lang="en-US" sz="1100" b="1" dirty="0">
                <a:solidFill>
                  <a:srgbClr val="FFFFFF"/>
                </a:solidFill>
              </a:rPr>
              <a:t>High</a:t>
            </a:r>
            <a:endParaRPr lang="en-US" sz="1100" dirty="0"/>
          </a:p>
        </p:txBody>
      </p:sp>
      <p:sp>
        <p:nvSpPr>
          <p:cNvPr id="12" name="Change text 2"/>
          <p:cNvSpPr txBox="1"/>
          <p:nvPr/>
        </p:nvSpPr>
        <p:spPr>
          <a:xfrm>
            <a:off x="3383280" y="1920240"/>
            <a:ext cx="2377440" cy="868680"/>
          </a:xfrm>
          <a:prstGeom prst="rect">
            <a:avLst/>
          </a:prstGeom>
          <a:noFill/>
          <a:ln/>
        </p:spPr>
        <p:txBody>
          <a:bodyPr wrap="square" lIns="0" tIns="0" rIns="0" bIns="0" rtlCol="0" anchor="t"/>
          <a:lstStyle/>
          <a:p>
            <a:pPr indent="0" marL="0">
              <a:buNone/>
            </a:pPr>
            <a:r>
              <a:rPr lang="en-US" sz="1600" b="1" dirty="0">
                <a:solidFill>
                  <a:srgbClr val="1F3A5F"/>
                </a:solidFill>
              </a:rPr>
              <a:t>Delivery</a:t>
            </a:r>
            <a:endParaRPr lang="en-US" sz="1600" dirty="0"/>
          </a:p>
          <a:p>
            <a:pPr indent="0" marL="0">
              <a:buNone/>
            </a:pPr>
            <a:r>
              <a:rPr lang="en-US" sz="1400" dirty="0">
                <a:solidFill>
                  <a:srgbClr val="1A2236"/>
                </a:solidFill>
              </a:rPr>
              <a:t>Faster couriers and real-time tracking</a:t>
            </a:r>
            <a:endParaRPr lang="en-US" sz="1600" dirty="0"/>
          </a:p>
        </p:txBody>
      </p:sp>
      <p:sp>
        <p:nvSpPr>
          <p:cNvPr id="13" name="Change card 3"/>
          <p:cNvSpPr/>
          <p:nvPr/>
        </p:nvSpPr>
        <p:spPr>
          <a:xfrm>
            <a:off x="6035040" y="1188720"/>
            <a:ext cx="2651760" cy="1645920"/>
          </a:xfrm>
          <a:prstGeom prst="roundRect">
            <a:avLst>
              <a:gd name="adj" fmla="val 5556"/>
            </a:avLst>
          </a:prstGeom>
          <a:solidFill>
            <a:schemeClr val="bg2"/>
          </a:solidFill>
          <a:ln w="12700">
            <a:solidFill>
              <a:schemeClr val="bg2"/>
            </a:solidFill>
            <a:prstDash val="solid"/>
          </a:ln>
        </p:spPr>
      </p:sp>
      <p:sp>
        <p:nvSpPr>
          <p:cNvPr id="14" name="Icon circle 3"/>
          <p:cNvSpPr/>
          <p:nvPr/>
        </p:nvSpPr>
        <p:spPr>
          <a:xfrm>
            <a:off x="6172200" y="1325880"/>
            <a:ext cx="502920" cy="502920"/>
          </a:xfrm>
          <a:prstGeom prst="ellipse">
            <a:avLst/>
          </a:prstGeom>
          <a:solidFill>
            <a:srgbClr val="C0504D"/>
          </a:solidFill>
          <a:ln w="12700">
            <a:solidFill>
              <a:srgbClr val="C0504D"/>
            </a:solidFill>
            <a:prstDash val="solid"/>
          </a:ln>
        </p:spPr>
      </p:sp>
      <p:pic>
        <p:nvPicPr>
          <p:cNvPr id="15" name="Icon 3" descr="Returns and refunds">    </p:cNvPr>
          <p:cNvPicPr>
            <a:picLocks noChangeAspect="1"/>
          </p:cNvPicPr>
          <p:nvPr/>
        </p:nvPicPr>
        <p:blipFill>
          <a:blip r:embed="rId3"/>
          <a:stretch>
            <a:fillRect/>
          </a:stretch>
        </p:blipFill>
        <p:spPr>
          <a:xfrm>
            <a:off x="6291072" y="1444752"/>
            <a:ext cx="274320" cy="274320"/>
          </a:xfrm>
          <a:prstGeom prst="rect">
            <a:avLst/>
          </a:prstGeom>
        </p:spPr>
      </p:pic>
      <p:sp>
        <p:nvSpPr>
          <p:cNvPr id="16" name="Priority tag 3"/>
          <p:cNvSpPr txBox="1"/>
          <p:nvPr/>
        </p:nvSpPr>
        <p:spPr>
          <a:xfrm>
            <a:off x="7635240" y="1371600"/>
            <a:ext cx="914400" cy="365760"/>
          </a:xfrm>
          <a:prstGeom prst="rect">
            <a:avLst/>
          </a:prstGeom>
          <a:solidFill>
            <a:srgbClr val="C0504D"/>
          </a:solidFill>
          <a:ln/>
        </p:spPr>
        <p:txBody>
          <a:bodyPr wrap="square" lIns="0" tIns="0" rIns="0" bIns="0" rtlCol="0" anchor="ctr"/>
          <a:lstStyle/>
          <a:p>
            <a:pPr algn="ctr" indent="0" marL="0">
              <a:buNone/>
            </a:pPr>
            <a:r>
              <a:rPr lang="en-US" sz="1100" b="1" dirty="0">
                <a:solidFill>
                  <a:srgbClr val="FFFFFF"/>
                </a:solidFill>
              </a:rPr>
              <a:t>High</a:t>
            </a:r>
            <a:endParaRPr lang="en-US" sz="1100" dirty="0"/>
          </a:p>
        </p:txBody>
      </p:sp>
      <p:sp>
        <p:nvSpPr>
          <p:cNvPr id="17" name="Change text 3"/>
          <p:cNvSpPr txBox="1"/>
          <p:nvPr/>
        </p:nvSpPr>
        <p:spPr>
          <a:xfrm>
            <a:off x="6172200" y="1920240"/>
            <a:ext cx="2377440" cy="868680"/>
          </a:xfrm>
          <a:prstGeom prst="rect">
            <a:avLst/>
          </a:prstGeom>
          <a:noFill/>
          <a:ln/>
        </p:spPr>
        <p:txBody>
          <a:bodyPr wrap="square" lIns="0" tIns="0" rIns="0" bIns="0" rtlCol="0" anchor="t"/>
          <a:lstStyle/>
          <a:p>
            <a:pPr indent="0" marL="0">
              <a:buNone/>
            </a:pPr>
            <a:r>
              <a:rPr lang="en-US" sz="1600" b="1" dirty="0">
                <a:solidFill>
                  <a:srgbClr val="1F3A5F"/>
                </a:solidFill>
              </a:rPr>
              <a:t>Returns and refunds</a:t>
            </a:r>
            <a:endParaRPr lang="en-US" sz="1600" dirty="0"/>
          </a:p>
          <a:p>
            <a:pPr indent="0" marL="0">
              <a:buNone/>
            </a:pPr>
            <a:r>
              <a:rPr lang="en-US" sz="1400" dirty="0">
                <a:solidFill>
                  <a:srgbClr val="1A2236"/>
                </a:solidFill>
              </a:rPr>
              <a:t>One-click returns; refund in 5–7 working days</a:t>
            </a:r>
            <a:endParaRPr lang="en-US" sz="1600" dirty="0"/>
          </a:p>
        </p:txBody>
      </p:sp>
      <p:sp>
        <p:nvSpPr>
          <p:cNvPr id="18" name="Change card 4"/>
          <p:cNvSpPr/>
          <p:nvPr/>
        </p:nvSpPr>
        <p:spPr>
          <a:xfrm>
            <a:off x="457200" y="2971800"/>
            <a:ext cx="2651760" cy="1645920"/>
          </a:xfrm>
          <a:prstGeom prst="roundRect">
            <a:avLst>
              <a:gd name="adj" fmla="val 5556"/>
            </a:avLst>
          </a:prstGeom>
          <a:solidFill>
            <a:schemeClr val="bg2"/>
          </a:solidFill>
          <a:ln w="12700">
            <a:solidFill>
              <a:schemeClr val="bg2"/>
            </a:solidFill>
            <a:prstDash val="solid"/>
          </a:ln>
        </p:spPr>
      </p:sp>
      <p:sp>
        <p:nvSpPr>
          <p:cNvPr id="19" name="Icon circle 4"/>
          <p:cNvSpPr/>
          <p:nvPr/>
        </p:nvSpPr>
        <p:spPr>
          <a:xfrm>
            <a:off x="594360" y="3108960"/>
            <a:ext cx="502920" cy="502920"/>
          </a:xfrm>
          <a:prstGeom prst="ellipse">
            <a:avLst/>
          </a:prstGeom>
          <a:solidFill>
            <a:srgbClr val="E8833A"/>
          </a:solidFill>
          <a:ln w="12700">
            <a:solidFill>
              <a:srgbClr val="E8833A"/>
            </a:solidFill>
            <a:prstDash val="solid"/>
          </a:ln>
        </p:spPr>
      </p:sp>
      <p:pic>
        <p:nvPicPr>
          <p:cNvPr id="20" name="Icon 4" descr="Packaging">    </p:cNvPr>
          <p:cNvPicPr>
            <a:picLocks noChangeAspect="1"/>
          </p:cNvPicPr>
          <p:nvPr/>
        </p:nvPicPr>
        <p:blipFill>
          <a:blip r:embed="rId4"/>
          <a:stretch>
            <a:fillRect/>
          </a:stretch>
        </p:blipFill>
        <p:spPr>
          <a:xfrm>
            <a:off x="713232" y="3227832"/>
            <a:ext cx="274320" cy="274320"/>
          </a:xfrm>
          <a:prstGeom prst="rect">
            <a:avLst/>
          </a:prstGeom>
        </p:spPr>
      </p:pic>
      <p:sp>
        <p:nvSpPr>
          <p:cNvPr id="21" name="Priority tag 4"/>
          <p:cNvSpPr txBox="1"/>
          <p:nvPr/>
        </p:nvSpPr>
        <p:spPr>
          <a:xfrm>
            <a:off x="2057400" y="3154680"/>
            <a:ext cx="914400" cy="365760"/>
          </a:xfrm>
          <a:prstGeom prst="rect">
            <a:avLst/>
          </a:prstGeom>
          <a:solidFill>
            <a:srgbClr val="E8833A"/>
          </a:solidFill>
          <a:ln/>
        </p:spPr>
        <p:txBody>
          <a:bodyPr wrap="square" lIns="0" tIns="0" rIns="0" bIns="0" rtlCol="0" anchor="ctr"/>
          <a:lstStyle/>
          <a:p>
            <a:pPr algn="ctr" indent="0" marL="0">
              <a:buNone/>
            </a:pPr>
            <a:r>
              <a:rPr lang="en-US" sz="1100" b="1" dirty="0">
                <a:solidFill>
                  <a:srgbClr val="FFFFFF"/>
                </a:solidFill>
              </a:rPr>
              <a:t>Medium</a:t>
            </a:r>
            <a:endParaRPr lang="en-US" sz="1100" dirty="0"/>
          </a:p>
        </p:txBody>
      </p:sp>
      <p:sp>
        <p:nvSpPr>
          <p:cNvPr id="22" name="Change text 4"/>
          <p:cNvSpPr txBox="1"/>
          <p:nvPr/>
        </p:nvSpPr>
        <p:spPr>
          <a:xfrm>
            <a:off x="594360" y="3703320"/>
            <a:ext cx="2377440" cy="868680"/>
          </a:xfrm>
          <a:prstGeom prst="rect">
            <a:avLst/>
          </a:prstGeom>
          <a:noFill/>
          <a:ln/>
        </p:spPr>
        <p:txBody>
          <a:bodyPr wrap="square" lIns="0" tIns="0" rIns="0" bIns="0" rtlCol="0" anchor="t"/>
          <a:lstStyle/>
          <a:p>
            <a:pPr indent="0" marL="0">
              <a:buNone/>
            </a:pPr>
            <a:r>
              <a:rPr lang="en-US" sz="1600" b="1" dirty="0">
                <a:solidFill>
                  <a:srgbClr val="1F3A5F"/>
                </a:solidFill>
              </a:rPr>
              <a:t>Packaging</a:t>
            </a:r>
            <a:endParaRPr lang="en-US" sz="1600" dirty="0"/>
          </a:p>
          <a:p>
            <a:pPr indent="0" marL="0">
              <a:buNone/>
            </a:pPr>
            <a:r>
              <a:rPr lang="en-US" sz="1400" dirty="0">
                <a:solidFill>
                  <a:srgbClr val="1A2236"/>
                </a:solidFill>
              </a:rPr>
              <a:t>Sturdier boxes; check packing before dispatch</a:t>
            </a:r>
            <a:endParaRPr lang="en-US" sz="1600" dirty="0"/>
          </a:p>
        </p:txBody>
      </p:sp>
      <p:sp>
        <p:nvSpPr>
          <p:cNvPr id="23" name="Change card 5"/>
          <p:cNvSpPr/>
          <p:nvPr/>
        </p:nvSpPr>
        <p:spPr>
          <a:xfrm>
            <a:off x="3246120" y="2971800"/>
            <a:ext cx="2651760" cy="1645920"/>
          </a:xfrm>
          <a:prstGeom prst="roundRect">
            <a:avLst>
              <a:gd name="adj" fmla="val 5556"/>
            </a:avLst>
          </a:prstGeom>
          <a:solidFill>
            <a:schemeClr val="bg2"/>
          </a:solidFill>
          <a:ln w="12700">
            <a:solidFill>
              <a:schemeClr val="bg2"/>
            </a:solidFill>
            <a:prstDash val="solid"/>
          </a:ln>
        </p:spPr>
      </p:sp>
      <p:sp>
        <p:nvSpPr>
          <p:cNvPr id="24" name="Icon circle 5"/>
          <p:cNvSpPr/>
          <p:nvPr/>
        </p:nvSpPr>
        <p:spPr>
          <a:xfrm>
            <a:off x="3383280" y="3108960"/>
            <a:ext cx="502920" cy="502920"/>
          </a:xfrm>
          <a:prstGeom prst="ellipse">
            <a:avLst/>
          </a:prstGeom>
          <a:solidFill>
            <a:srgbClr val="E8833A"/>
          </a:solidFill>
          <a:ln w="12700">
            <a:solidFill>
              <a:srgbClr val="E8833A"/>
            </a:solidFill>
            <a:prstDash val="solid"/>
          </a:ln>
        </p:spPr>
      </p:sp>
      <p:pic>
        <p:nvPicPr>
          <p:cNvPr id="25" name="Icon 5" descr="Price transparency">    </p:cNvPr>
          <p:cNvPicPr>
            <a:picLocks noChangeAspect="1"/>
          </p:cNvPicPr>
          <p:nvPr/>
        </p:nvPicPr>
        <p:blipFill>
          <a:blip r:embed="rId5"/>
          <a:stretch>
            <a:fillRect/>
          </a:stretch>
        </p:blipFill>
        <p:spPr>
          <a:xfrm>
            <a:off x="3502152" y="3227832"/>
            <a:ext cx="274320" cy="274320"/>
          </a:xfrm>
          <a:prstGeom prst="rect">
            <a:avLst/>
          </a:prstGeom>
        </p:spPr>
      </p:pic>
      <p:sp>
        <p:nvSpPr>
          <p:cNvPr id="26" name="Priority tag 5"/>
          <p:cNvSpPr txBox="1"/>
          <p:nvPr/>
        </p:nvSpPr>
        <p:spPr>
          <a:xfrm>
            <a:off x="4846320" y="3154680"/>
            <a:ext cx="914400" cy="365760"/>
          </a:xfrm>
          <a:prstGeom prst="rect">
            <a:avLst/>
          </a:prstGeom>
          <a:solidFill>
            <a:srgbClr val="E8833A"/>
          </a:solidFill>
          <a:ln/>
        </p:spPr>
        <p:txBody>
          <a:bodyPr wrap="square" lIns="0" tIns="0" rIns="0" bIns="0" rtlCol="0" anchor="ctr"/>
          <a:lstStyle/>
          <a:p>
            <a:pPr algn="ctr" indent="0" marL="0">
              <a:buNone/>
            </a:pPr>
            <a:r>
              <a:rPr lang="en-US" sz="1100" b="1" dirty="0">
                <a:solidFill>
                  <a:srgbClr val="FFFFFF"/>
                </a:solidFill>
              </a:rPr>
              <a:t>Medium</a:t>
            </a:r>
            <a:endParaRPr lang="en-US" sz="1100" dirty="0"/>
          </a:p>
        </p:txBody>
      </p:sp>
      <p:sp>
        <p:nvSpPr>
          <p:cNvPr id="27" name="Change text 5"/>
          <p:cNvSpPr txBox="1"/>
          <p:nvPr/>
        </p:nvSpPr>
        <p:spPr>
          <a:xfrm>
            <a:off x="3383280" y="3703320"/>
            <a:ext cx="2377440" cy="868680"/>
          </a:xfrm>
          <a:prstGeom prst="rect">
            <a:avLst/>
          </a:prstGeom>
          <a:noFill/>
          <a:ln/>
        </p:spPr>
        <p:txBody>
          <a:bodyPr wrap="square" lIns="0" tIns="0" rIns="0" bIns="0" rtlCol="0" anchor="t"/>
          <a:lstStyle/>
          <a:p>
            <a:pPr indent="0" marL="0">
              <a:buNone/>
            </a:pPr>
            <a:r>
              <a:rPr lang="en-US" sz="1600" b="1" dirty="0">
                <a:solidFill>
                  <a:srgbClr val="1F3A5F"/>
                </a:solidFill>
              </a:rPr>
              <a:t>Price transparency</a:t>
            </a:r>
            <a:endParaRPr lang="en-US" sz="1600" dirty="0"/>
          </a:p>
          <a:p>
            <a:pPr indent="0" marL="0">
              <a:buNone/>
            </a:pPr>
            <a:r>
              <a:rPr lang="en-US" sz="1400" dirty="0">
                <a:solidFill>
                  <a:srgbClr val="1A2236"/>
                </a:solidFill>
              </a:rPr>
              <a:t>Show all charges before checkout</a:t>
            </a:r>
            <a:endParaRPr lang="en-US" sz="1600" dirty="0"/>
          </a:p>
        </p:txBody>
      </p:sp>
      <p:sp>
        <p:nvSpPr>
          <p:cNvPr id="28" name="Change card 6"/>
          <p:cNvSpPr/>
          <p:nvPr/>
        </p:nvSpPr>
        <p:spPr>
          <a:xfrm>
            <a:off x="6035040" y="2971800"/>
            <a:ext cx="2651760" cy="1645920"/>
          </a:xfrm>
          <a:prstGeom prst="roundRect">
            <a:avLst>
              <a:gd name="adj" fmla="val 5556"/>
            </a:avLst>
          </a:prstGeom>
          <a:solidFill>
            <a:schemeClr val="bg2"/>
          </a:solidFill>
          <a:ln w="12700">
            <a:solidFill>
              <a:schemeClr val="bg2"/>
            </a:solidFill>
            <a:prstDash val="solid"/>
          </a:ln>
        </p:spPr>
      </p:sp>
      <p:sp>
        <p:nvSpPr>
          <p:cNvPr id="29" name="Icon circle 6"/>
          <p:cNvSpPr/>
          <p:nvPr/>
        </p:nvSpPr>
        <p:spPr>
          <a:xfrm>
            <a:off x="6172200" y="3108960"/>
            <a:ext cx="502920" cy="502920"/>
          </a:xfrm>
          <a:prstGeom prst="ellipse">
            <a:avLst/>
          </a:prstGeom>
          <a:solidFill>
            <a:srgbClr val="2A9D8F"/>
          </a:solidFill>
          <a:ln w="12700">
            <a:solidFill>
              <a:srgbClr val="2A9D8F"/>
            </a:solidFill>
            <a:prstDash val="solid"/>
          </a:ln>
        </p:spPr>
      </p:sp>
      <p:pic>
        <p:nvPicPr>
          <p:cNvPr id="30" name="Icon 6" descr="Feedback loop">    </p:cNvPr>
          <p:cNvPicPr>
            <a:picLocks noChangeAspect="1"/>
          </p:cNvPicPr>
          <p:nvPr/>
        </p:nvPicPr>
        <p:blipFill>
          <a:blip r:embed="rId6"/>
          <a:stretch>
            <a:fillRect/>
          </a:stretch>
        </p:blipFill>
        <p:spPr>
          <a:xfrm>
            <a:off x="6291072" y="3227832"/>
            <a:ext cx="274320" cy="274320"/>
          </a:xfrm>
          <a:prstGeom prst="rect">
            <a:avLst/>
          </a:prstGeom>
        </p:spPr>
      </p:pic>
      <p:sp>
        <p:nvSpPr>
          <p:cNvPr id="31" name="Priority tag 6"/>
          <p:cNvSpPr txBox="1"/>
          <p:nvPr/>
        </p:nvSpPr>
        <p:spPr>
          <a:xfrm>
            <a:off x="7635240" y="3154680"/>
            <a:ext cx="914400" cy="365760"/>
          </a:xfrm>
          <a:prstGeom prst="rect">
            <a:avLst/>
          </a:prstGeom>
          <a:solidFill>
            <a:srgbClr val="2A9D8F"/>
          </a:solidFill>
          <a:ln/>
        </p:spPr>
        <p:txBody>
          <a:bodyPr wrap="square" lIns="0" tIns="0" rIns="0" bIns="0" rtlCol="0" anchor="ctr"/>
          <a:lstStyle/>
          <a:p>
            <a:pPr algn="ctr" indent="0" marL="0">
              <a:buNone/>
            </a:pPr>
            <a:r>
              <a:rPr lang="en-US" sz="1100" b="1" dirty="0">
                <a:solidFill>
                  <a:srgbClr val="FFFFFF"/>
                </a:solidFill>
              </a:rPr>
              <a:t>Ongoing</a:t>
            </a:r>
            <a:endParaRPr lang="en-US" sz="1100" dirty="0"/>
          </a:p>
        </p:txBody>
      </p:sp>
      <p:sp>
        <p:nvSpPr>
          <p:cNvPr id="32" name="Change text 6"/>
          <p:cNvSpPr txBox="1"/>
          <p:nvPr/>
        </p:nvSpPr>
        <p:spPr>
          <a:xfrm>
            <a:off x="6172200" y="3703320"/>
            <a:ext cx="2377440" cy="868680"/>
          </a:xfrm>
          <a:prstGeom prst="rect">
            <a:avLst/>
          </a:prstGeom>
          <a:noFill/>
          <a:ln/>
        </p:spPr>
        <p:txBody>
          <a:bodyPr wrap="square" lIns="0" tIns="0" rIns="0" bIns="0" rtlCol="0" anchor="t"/>
          <a:lstStyle/>
          <a:p>
            <a:pPr indent="0" marL="0">
              <a:buNone/>
            </a:pPr>
            <a:r>
              <a:rPr lang="en-US" sz="1600" b="1" dirty="0">
                <a:solidFill>
                  <a:srgbClr val="1F3A5F"/>
                </a:solidFill>
              </a:rPr>
              <a:t>Feedback loop</a:t>
            </a:r>
            <a:endParaRPr lang="en-US" sz="1600" dirty="0"/>
          </a:p>
          <a:p>
            <a:pPr indent="0" marL="0">
              <a:buNone/>
            </a:pPr>
            <a:r>
              <a:rPr lang="en-US" sz="1400" dirty="0">
                <a:solidFill>
                  <a:srgbClr val="1A2236"/>
                </a:solidFill>
              </a:rPr>
              <a:t>Short survey after each delivery; monthly review</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57200"/>
            <a:ext cx="8046720" cy="731520"/>
          </a:xfrm>
          <a:prstGeom prst="rect">
            <a:avLst/>
          </a:prstGeom>
          <a:noFill/>
          <a:ln/>
        </p:spPr>
        <p:txBody>
          <a:bodyPr wrap="square" lIns="0" tIns="0" rIns="0" bIns="0" rtlCol="0" anchor="ctr"/>
          <a:lstStyle/>
          <a:p>
            <a:pPr indent="0" marL="0">
              <a:buNone/>
            </a:pPr>
            <a:r>
              <a:rPr lang="en-US" sz="3600" b="1" dirty="0">
                <a:solidFill>
                  <a:schemeClr val="bg1"/>
                </a:solidFill>
              </a:rPr>
              <a:t>Key takeaways</a:t>
            </a:r>
            <a:endParaRPr lang="en-US" sz="3600" dirty="0"/>
          </a:p>
        </p:txBody>
      </p:sp>
      <p:sp>
        <p:nvSpPr>
          <p:cNvPr id="3" name="Number circle 1"/>
          <p:cNvSpPr/>
          <p:nvPr/>
        </p:nvSpPr>
        <p:spPr>
          <a:xfrm>
            <a:off x="548640" y="1463040"/>
            <a:ext cx="640080" cy="640080"/>
          </a:xfrm>
          <a:prstGeom prst="ellipse">
            <a:avLst/>
          </a:prstGeom>
          <a:solidFill>
            <a:schemeClr val="accent2"/>
          </a:solidFill>
          <a:ln w="12700">
            <a:solidFill>
              <a:schemeClr val="accent2"/>
            </a:solidFill>
            <a:prstDash val="solid"/>
          </a:ln>
        </p:spPr>
      </p:sp>
      <p:sp>
        <p:nvSpPr>
          <p:cNvPr id="4" name="Number 1"/>
          <p:cNvSpPr txBox="1"/>
          <p:nvPr/>
        </p:nvSpPr>
        <p:spPr>
          <a:xfrm>
            <a:off x="548640" y="14630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5" name="Takeaway 1"/>
          <p:cNvSpPr txBox="1"/>
          <p:nvPr/>
        </p:nvSpPr>
        <p:spPr>
          <a:xfrm>
            <a:off x="1417320" y="1371600"/>
            <a:ext cx="7223760" cy="822960"/>
          </a:xfrm>
          <a:prstGeom prst="rect">
            <a:avLst/>
          </a:prstGeom>
          <a:noFill/>
          <a:ln/>
        </p:spPr>
        <p:txBody>
          <a:bodyPr wrap="square" lIns="0" tIns="0" rIns="0" bIns="0" rtlCol="0" anchor="ctr"/>
          <a:lstStyle/>
          <a:p>
            <a:pPr indent="0" marL="0">
              <a:buNone/>
            </a:pPr>
            <a:r>
              <a:rPr lang="en-US" sz="2000" b="1" dirty="0">
                <a:solidFill>
                  <a:schemeClr val="bg1"/>
                </a:solidFill>
              </a:rPr>
              <a:t>Strong product and website</a:t>
            </a:r>
            <a:endParaRPr lang="en-US" sz="2000" dirty="0"/>
          </a:p>
          <a:p>
            <a:pPr indent="0" marL="0">
              <a:buNone/>
            </a:pPr>
            <a:r>
              <a:rPr lang="en-US" sz="1500" dirty="0">
                <a:solidFill>
                  <a:schemeClr val="bg2"/>
                </a:solidFill>
              </a:rPr>
              <a:t>Quality (4.2) and ease of use (4.0) earn the best ratings.</a:t>
            </a:r>
            <a:endParaRPr lang="en-US" sz="2000" dirty="0"/>
          </a:p>
        </p:txBody>
      </p:sp>
      <p:sp>
        <p:nvSpPr>
          <p:cNvPr id="6" name="Number circle 2"/>
          <p:cNvSpPr/>
          <p:nvPr/>
        </p:nvSpPr>
        <p:spPr>
          <a:xfrm>
            <a:off x="548640" y="2514600"/>
            <a:ext cx="640080" cy="640080"/>
          </a:xfrm>
          <a:prstGeom prst="ellipse">
            <a:avLst/>
          </a:prstGeom>
          <a:solidFill>
            <a:schemeClr val="accent2"/>
          </a:solidFill>
          <a:ln w="12700">
            <a:solidFill>
              <a:schemeClr val="accent2"/>
            </a:solidFill>
            <a:prstDash val="solid"/>
          </a:ln>
        </p:spPr>
      </p:sp>
      <p:sp>
        <p:nvSpPr>
          <p:cNvPr id="7" name="Number 2"/>
          <p:cNvSpPr txBox="1"/>
          <p:nvPr/>
        </p:nvSpPr>
        <p:spPr>
          <a:xfrm>
            <a:off x="548640" y="25146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8" name="Takeaway 2"/>
          <p:cNvSpPr txBox="1"/>
          <p:nvPr/>
        </p:nvSpPr>
        <p:spPr>
          <a:xfrm>
            <a:off x="1417320" y="2423160"/>
            <a:ext cx="7223760" cy="822960"/>
          </a:xfrm>
          <a:prstGeom prst="rect">
            <a:avLst/>
          </a:prstGeom>
          <a:noFill/>
          <a:ln/>
        </p:spPr>
        <p:txBody>
          <a:bodyPr wrap="square" lIns="0" tIns="0" rIns="0" bIns="0" rtlCol="0" anchor="ctr"/>
          <a:lstStyle/>
          <a:p>
            <a:pPr indent="0" marL="0">
              <a:buNone/>
            </a:pPr>
            <a:r>
              <a:rPr lang="en-US" sz="2000" b="1" dirty="0">
                <a:solidFill>
                  <a:schemeClr val="bg1"/>
                </a:solidFill>
              </a:rPr>
              <a:t>After-sales service is the weak link</a:t>
            </a:r>
            <a:endParaRPr lang="en-US" sz="2000" dirty="0"/>
          </a:p>
          <a:p>
            <a:pPr indent="0" marL="0">
              <a:buNone/>
            </a:pPr>
            <a:r>
              <a:rPr lang="en-US" sz="1500" dirty="0">
                <a:solidFill>
                  <a:schemeClr val="bg2"/>
                </a:solidFill>
              </a:rPr>
              <a:t>Delivery 3.1, returns 3.0 and support 2.9 hold satisfaction back.</a:t>
            </a:r>
            <a:endParaRPr lang="en-US" sz="2000" dirty="0"/>
          </a:p>
        </p:txBody>
      </p:sp>
      <p:sp>
        <p:nvSpPr>
          <p:cNvPr id="9" name="Number circle 3"/>
          <p:cNvSpPr/>
          <p:nvPr/>
        </p:nvSpPr>
        <p:spPr>
          <a:xfrm>
            <a:off x="548640" y="3566160"/>
            <a:ext cx="640080" cy="640080"/>
          </a:xfrm>
          <a:prstGeom prst="ellipse">
            <a:avLst/>
          </a:prstGeom>
          <a:solidFill>
            <a:schemeClr val="accent2"/>
          </a:solidFill>
          <a:ln w="12700">
            <a:solidFill>
              <a:schemeClr val="accent2"/>
            </a:solidFill>
            <a:prstDash val="solid"/>
          </a:ln>
        </p:spPr>
      </p:sp>
      <p:sp>
        <p:nvSpPr>
          <p:cNvPr id="10" name="Number 3"/>
          <p:cNvSpPr txBox="1"/>
          <p:nvPr/>
        </p:nvSpPr>
        <p:spPr>
          <a:xfrm>
            <a:off x="548640" y="35661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1" name="Takeaway 3"/>
          <p:cNvSpPr txBox="1"/>
          <p:nvPr/>
        </p:nvSpPr>
        <p:spPr>
          <a:xfrm>
            <a:off x="1417320" y="3474720"/>
            <a:ext cx="7223760" cy="822960"/>
          </a:xfrm>
          <a:prstGeom prst="rect">
            <a:avLst/>
          </a:prstGeom>
          <a:noFill/>
          <a:ln/>
        </p:spPr>
        <p:txBody>
          <a:bodyPr wrap="square" lIns="0" tIns="0" rIns="0" bIns="0" rtlCol="0" anchor="ctr"/>
          <a:lstStyle/>
          <a:p>
            <a:pPr indent="0" marL="0">
              <a:buNone/>
            </a:pPr>
            <a:r>
              <a:rPr lang="en-US" sz="2000" b="1" dirty="0">
                <a:solidFill>
                  <a:schemeClr val="bg1"/>
                </a:solidFill>
              </a:rPr>
              <a:t>Fix support, delivery and returns first</a:t>
            </a:r>
            <a:endParaRPr lang="en-US" sz="2000" dirty="0"/>
          </a:p>
          <a:p>
            <a:pPr indent="0" marL="0">
              <a:buNone/>
            </a:pPr>
            <a:r>
              <a:rPr lang="en-US" sz="1500" dirty="0">
                <a:solidFill>
                  <a:schemeClr val="bg2"/>
                </a:solidFill>
              </a:rPr>
              <a:t>These changes can raise the 68% satisfied and the 58% who would recommend.</a:t>
            </a:r>
            <a:endParaRPr lang="en-US" sz="2000" dirty="0"/>
          </a:p>
        </p:txBody>
      </p:sp>
      <p:sp>
        <p:nvSpPr>
          <p:cNvPr id="12" name="Closing"/>
          <p:cNvSpPr txBox="1"/>
          <p:nvPr/>
        </p:nvSpPr>
        <p:spPr>
          <a:xfrm>
            <a:off x="548640" y="4480560"/>
            <a:ext cx="8046720" cy="457200"/>
          </a:xfrm>
          <a:prstGeom prst="rect">
            <a:avLst/>
          </a:prstGeom>
          <a:noFill/>
          <a:ln/>
        </p:spPr>
        <p:txBody>
          <a:bodyPr wrap="square" lIns="0" tIns="0" rIns="0" bIns="0" rtlCol="0" anchor="ctr"/>
          <a:lstStyle/>
          <a:p>
            <a:pPr indent="0" marL="0">
              <a:buNone/>
            </a:pPr>
            <a:r>
              <a:rPr lang="en-US" sz="2000" i="1" dirty="0">
                <a:solidFill>
                  <a:schemeClr val="accent6"/>
                </a:solidFill>
              </a:rPr>
              <a:t>Thank you</a:t>
            </a:r>
            <a:endParaRPr lang="en-US" sz="2000" dirty="0"/>
          </a:p>
        </p:txBody>
      </p:sp>
    </p:spTree>
  </p:cSld>
  <p:clrMapOvr>
    <a:masterClrMapping/>
  </p:clrMapOvr>
</p:sld>
</file>

<file path=ppt/theme/theme1.xml><?xml version="1.0" encoding="utf-8"?>
<a:theme xmlns:a="http://schemas.openxmlformats.org/drawingml/2006/main" name="Customer Satisfaction">
  <a:themeElements>
    <a:clrScheme name="Customer Satisfaction">
      <a:dk1>
        <a:srgbClr val="1A2236"/>
      </a:dk1>
      <a:lt1>
        <a:srgbClr val="FFFFFF"/>
      </a:lt1>
      <a:dk2>
        <a:srgbClr val="1F3A5F"/>
      </a:dk2>
      <a:lt2>
        <a:srgbClr val="EEF3F8"/>
      </a:lt2>
      <a:accent1>
        <a:srgbClr val="2B5C8A"/>
      </a:accent1>
      <a:accent2>
        <a:srgbClr val="E8833A"/>
      </a:accent2>
      <a:accent3>
        <a:srgbClr val="C0504D"/>
      </a:accent3>
      <a:accent4>
        <a:srgbClr val="2A9D8F"/>
      </a:accent4>
      <a:accent5>
        <a:srgbClr val="8A94A6"/>
      </a:accent5>
      <a:accent6>
        <a:srgbClr val="F2B84B"/>
      </a:accent6>
      <a:hlink>
        <a:srgbClr val="2B5C8A"/>
      </a:hlink>
      <a:folHlink>
        <a:srgbClr val="8A94A6"/>
      </a:folHlink>
    </a:clrScheme>
    <a:fontScheme name="Customer Satisfac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Satisfaction Report for E-commerce Business</dc:title>
  <dc:subject>PptxGenJS Presentation</dc:subject>
  <dc:creator>Khushi Naskar &amp; Pranjali Choudhary</dc:creator>
  <cp:lastModifiedBy>Khushi Naskar &amp; Pranjali Choudhary</cp:lastModifiedBy>
  <cp:revision>1</cp:revision>
  <dcterms:created xsi:type="dcterms:W3CDTF">2026-10-27T20:08:26Z</dcterms:created>
  <dcterms:modified xsi:type="dcterms:W3CDTF">2026-10-27T20:08:26Z</dcterms:modified>
</cp:coreProperties>
</file>